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4" d="100"/>
          <a:sy n="74" d="100"/>
        </p:scale>
        <p:origin x="552" y="-4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6236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We are Team CycloneShield presenting our solution for the Google Cloud AI Builder Cup. Our project tackles the critical coastal disaster decision gap: turning meteorological forecasts and storm tracks into clear district priorities, road cut-off predictions, hospital flood alerts, and life-saving localized warnings.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CycloneShield turns abstract storm tracks into clear district priorities. It integrates 11 native Google Cloud services into a unified disaster workflow: BigQuery for track ingestion, Google Earth Engine for elevation and surge bathymetry, Vertex AI for lifeline failure ML, Gemini 2.5 Flash for post-storm damage triage, Google Cloud Storage for audit vaults, and Cloud Pub/Sub with Cloud Text-to-Speech for voice alerts in 7 languages.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CycloneShield differs fundamentally from standard weather apps: we model the operational consequences on roads, clinics, and shelters. Our critical architectural USP is anti-hallucination decoupling—Gemini never guesses coordinates, while Cloud Pub/Sub delivers filtered local alerts, and Cloud Text-to-Speech broadcasts warnings in 7 languages across 5 maritime states.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6 core features of CycloneShield: from planetary storm track ingestion in BigQuery to compound surge modeling, Vertex AI-ready predictive ML, multimodal ground damage triage with Gemini 2.5 Flash, audit-proof Google Cloud Storage with Pub/Sub alerting, and our 7-language voice engine backed by dynamic meteorological what-if simulators.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process diagram shows the 4-stage operational flow: Ingestion -&gt; Hazard &amp; ML -&gt; Triage &amp; Vault -&gt; Alert Dispatch. Downstream personas—from District Magistrates and NDRF commanders to Hospital CMOs and coastal villagers—receive tailored, actionable information calibrated to save lives.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interactive command center UI. It provides an intuitive, zero-jargon interface for incident commanders: a high-impact Situation-at-a-Glance summary, a dynamic multi-hazard map, actionable district priority rankings, and embedded voice alert players right in the browser.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architecture connects 11 native Google Cloud services into a serverless, event-driven mesh. Cloud Run provides autoscaling and HTTPS for device location; BigQuery provides planetary data; Vertex AI and Gemini power predictive and multimodal intelligence; and Cloud Pub/Sub with Cloud Storage ensures zero-loss, audit-proof alert delivery.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CycloneShield is built on 11 Google Cloud services combined with modern geospatial Python libraries and authoritative open datasets. This ensures our solution is mathematically grounded, operationally credible, and highly scalable across India's coastline.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CycloneShield delivers extraordinary cost efficiency: our evaluation prototype runs at $0/month within Google Cloud free allowances. For a full state disaster authority pilot covering an entire cyclone season, the estimated cloud footprint is just ~$25.80 a month (around ₹2,140), making it affordable for even the most budget-conscious district administrations.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snapshots from our live Streamlit deployment showcase our two primary user interfaces: on the left, the pre-landfall spatial hazard simulator with district risk matrix; on the right, the post-landfall ground damage triage module where Gemini 2.5 Flash analyzes uploaded drone imagery and persists evidence to Google Cloud Storage.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machine learning benchmark suite demonstrates high statistical reliability: both the highway submersion and hospital inundation models achieve ROC-AUCs exceeding 0.97 with well-calibrated Brier scores under 0.05. Combined with sub-10ms model inference and sub-100ms Pub/Sub alert dispatch, CycloneShield delivers real-time operational response.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Responsible disaster technology requires total honesty about technical boundaries. We openly disclose our current limitations—such as our planar surge model and simulated training data—and present a concrete roadmap: hydrodynamic coupling with INCOIS, 1-meter drone LiDAR elevation, and our structured 4-week state authority rollout plan.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project deliverables are open, verifiable, and deployed. Our hosted Streamlit prototype requires zero API keys to evaluate, our 3-minute video demonstrates every feature live, and our reproducible Google Colab allows judges to execute the BigQuery, ML, and Pub/Sub pipelines in 1 click.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judges for your time and guidance. CycloneShield is ready to be piloted with state disaster authorities to turn meteorological forecasts into life-saving actions. We are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01752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2743200" cy="457200"/>
          </a:xfrm>
          <a:prstGeom prst="rect">
            <a:avLst/>
          </a:prstGeom>
          <a:noFill/>
        </p:spPr>
        <p:txBody>
          <a:bodyPr wrap="none">
            <a:spAutoFit/>
          </a:bodyPr>
          <a:lstStyle/>
          <a:p>
            <a:pPr>
              <a:defRPr sz="1800" b="1">
                <a:solidFill>
                  <a:srgbClr val="FFFFFF"/>
                </a:solidFill>
              </a:defRPr>
            </a:pPr>
            <a:r>
              <a:t>Google Cloud</a:t>
            </a:r>
          </a:p>
        </p:txBody>
      </p:sp>
      <p:sp>
        <p:nvSpPr>
          <p:cNvPr id="4" name="TextBox 3"/>
          <p:cNvSpPr txBox="1"/>
          <p:nvPr/>
        </p:nvSpPr>
        <p:spPr>
          <a:xfrm>
            <a:off x="8686800" y="365760"/>
            <a:ext cx="2743200" cy="457200"/>
          </a:xfrm>
          <a:prstGeom prst="rect">
            <a:avLst/>
          </a:prstGeom>
          <a:noFill/>
        </p:spPr>
        <p:txBody>
          <a:bodyPr wrap="none">
            <a:spAutoFit/>
          </a:bodyPr>
          <a:lstStyle/>
          <a:p>
            <a:pPr algn="r">
              <a:defRPr sz="1800" b="1">
                <a:solidFill>
                  <a:srgbClr val="FFFFFF"/>
                </a:solidFill>
              </a:defRPr>
            </a:pPr>
            <a:r>
              <a:t>H2S</a:t>
            </a:r>
          </a:p>
        </p:txBody>
      </p:sp>
      <p:sp>
        <p:nvSpPr>
          <p:cNvPr id="5" name="TextBox 4"/>
          <p:cNvSpPr txBox="1"/>
          <p:nvPr/>
        </p:nvSpPr>
        <p:spPr>
          <a:xfrm>
            <a:off x="731520" y="1005840"/>
            <a:ext cx="7772400" cy="1645920"/>
          </a:xfrm>
          <a:prstGeom prst="rect">
            <a:avLst/>
          </a:prstGeom>
          <a:noFill/>
        </p:spPr>
        <p:txBody>
          <a:bodyPr wrap="none">
            <a:spAutoFit/>
          </a:bodyPr>
          <a:lstStyle/>
          <a:p>
            <a:pPr>
              <a:defRPr sz="3800" b="1">
                <a:solidFill>
                  <a:srgbClr val="FFFFFF"/>
                </a:solidFill>
              </a:defRPr>
            </a:pPr>
            <a:r>
              <a:t>AI ◆ Builder Cup</a:t>
            </a:r>
          </a:p>
          <a:p>
            <a:pPr>
              <a:defRPr sz="1600">
                <a:solidFill>
                  <a:srgbClr val="FBBC04"/>
                </a:solidFill>
              </a:defRPr>
            </a:pPr>
            <a:r>
              <a:t>Build in JAPAC. Build for the world.</a:t>
            </a:r>
          </a:p>
        </p:txBody>
      </p:sp>
      <p:sp>
        <p:nvSpPr>
          <p:cNvPr id="6" name="Rounded Rectangle 5"/>
          <p:cNvSpPr/>
          <p:nvPr/>
        </p:nvSpPr>
        <p:spPr>
          <a:xfrm>
            <a:off x="9144000" y="914400"/>
            <a:ext cx="2286000" cy="1737360"/>
          </a:xfrm>
          <a:prstGeom prst="roundRect">
            <a:avLst/>
          </a:prstGeom>
          <a:solidFill>
            <a:srgbClr val="1A202C"/>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06B6D4"/>
                </a:solidFill>
              </a:defRPr>
            </a:pPr>
            <a:r>
              <a:t>🏆 JAPAC</a:t>
            </a:r>
          </a:p>
          <a:p>
            <a:pPr algn="ctr">
              <a:defRPr sz="1000" b="1">
                <a:solidFill>
                  <a:srgbClr val="FFFFFF"/>
                </a:solidFill>
              </a:defRPr>
            </a:pPr>
            <a:r>
              <a:t>AI BUILDER CUP</a:t>
            </a:r>
          </a:p>
        </p:txBody>
      </p:sp>
      <p:sp>
        <p:nvSpPr>
          <p:cNvPr id="7" name="TextBox 6"/>
          <p:cNvSpPr txBox="1"/>
          <p:nvPr/>
        </p:nvSpPr>
        <p:spPr>
          <a:xfrm>
            <a:off x="731520" y="3291840"/>
            <a:ext cx="10728655" cy="548640"/>
          </a:xfrm>
          <a:prstGeom prst="rect">
            <a:avLst/>
          </a:prstGeom>
          <a:noFill/>
        </p:spPr>
        <p:txBody>
          <a:bodyPr wrap="none">
            <a:spAutoFit/>
          </a:bodyPr>
          <a:lstStyle/>
          <a:p>
            <a:pPr>
              <a:defRPr sz="2400" b="1">
                <a:solidFill>
                  <a:srgbClr val="111827"/>
                </a:solidFill>
              </a:defRPr>
            </a:pPr>
            <a:r>
              <a:t>Team Details</a:t>
            </a:r>
          </a:p>
        </p:txBody>
      </p:sp>
      <p:sp>
        <p:nvSpPr>
          <p:cNvPr id="8" name="Rounded Rectangle 7"/>
          <p:cNvSpPr/>
          <p:nvPr/>
        </p:nvSpPr>
        <p:spPr>
          <a:xfrm>
            <a:off x="731520" y="3931920"/>
            <a:ext cx="10728655" cy="246888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lIns="365760" tIns="274320" rtlCol="0" anchor="ctr"/>
          <a:lstStyle/>
          <a:p>
            <a:pPr>
              <a:defRPr sz="1600" b="1">
                <a:solidFill>
                  <a:srgbClr val="111827"/>
                </a:solidFill>
              </a:defRPr>
            </a:pPr>
            <a:r>
              <a:rPr lang="en-US" sz="2400" dirty="0"/>
              <a:t>Team name: ARSO</a:t>
            </a:r>
          </a:p>
          <a:p>
            <a:pPr>
              <a:defRPr sz="1600" b="1">
                <a:solidFill>
                  <a:srgbClr val="111827"/>
                </a:solidFill>
              </a:defRPr>
            </a:pPr>
            <a:r>
              <a:rPr lang="en-US" sz="2400" dirty="0"/>
              <a:t>Team leader name: Sowparnika Poojary </a:t>
            </a:r>
          </a:p>
          <a:p>
            <a:pPr>
              <a:defRPr sz="1600" b="1">
                <a:solidFill>
                  <a:srgbClr val="111827"/>
                </a:solidFill>
              </a:defRPr>
            </a:pPr>
            <a:r>
              <a:rPr lang="en-US" sz="2400" dirty="0"/>
              <a:t>Problem Statement: sustainability &amp; Social Impact</a:t>
            </a:r>
            <a:endParaRPr sz="2400" dirty="0">
              <a:solidFill>
                <a:srgbClr val="4B556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Brief about the idea</a:t>
            </a:r>
          </a:p>
        </p:txBody>
      </p:sp>
      <p:sp>
        <p:nvSpPr>
          <p:cNvPr id="7" name="Rounded Rectangle 6"/>
          <p:cNvSpPr/>
          <p:nvPr/>
        </p:nvSpPr>
        <p:spPr>
          <a:xfrm>
            <a:off x="731520" y="1737360"/>
            <a:ext cx="3383280"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4285F4"/>
                </a:solidFill>
              </a:defRPr>
            </a:pPr>
            <a:r>
              <a:rPr sz="1400" dirty="0">
                <a:solidFill>
                  <a:schemeClr val="tx1"/>
                </a:solidFill>
              </a:rPr>
              <a:t>🎯 Core Concept &amp; Mission</a:t>
            </a:r>
          </a:p>
          <a:p>
            <a:br>
              <a:rPr sz="1400" dirty="0">
                <a:solidFill>
                  <a:schemeClr val="tx1"/>
                </a:solidFill>
              </a:rPr>
            </a:br>
            <a:r>
              <a:rPr sz="1400" dirty="0">
                <a:solidFill>
                  <a:schemeClr val="tx1"/>
                </a:solidFill>
              </a:rPr>
              <a:t>• India's 7,516 km coastline is home to 188M+ citizens across maritime districts (Census 2011).</a:t>
            </a:r>
          </a:p>
          <a:p>
            <a:br>
              <a:rPr sz="1400" dirty="0">
                <a:solidFill>
                  <a:schemeClr val="tx1"/>
                </a:solidFill>
              </a:rPr>
            </a:br>
            <a:r>
              <a:rPr sz="1400" dirty="0">
                <a:solidFill>
                  <a:schemeClr val="tx1"/>
                </a:solidFill>
              </a:rPr>
              <a:t>• When cyclones develop, synoptic bulletins provide wind speeds and isobars—not whether arterial highway bridges will submerge or which rural clinics lose ICU power.</a:t>
            </a:r>
          </a:p>
          <a:p>
            <a:br>
              <a:rPr sz="1400" dirty="0">
                <a:solidFill>
                  <a:schemeClr val="tx1"/>
                </a:solidFill>
              </a:rPr>
            </a:br>
            <a:r>
              <a:rPr sz="1400" dirty="0">
                <a:solidFill>
                  <a:schemeClr val="tx1"/>
                </a:solidFill>
              </a:rPr>
              <a:t>• </a:t>
            </a:r>
            <a:r>
              <a:rPr sz="1400" dirty="0" err="1">
                <a:solidFill>
                  <a:schemeClr val="tx1"/>
                </a:solidFill>
              </a:rPr>
              <a:t>CycloneShield</a:t>
            </a:r>
            <a:r>
              <a:rPr sz="1400" dirty="0">
                <a:solidFill>
                  <a:schemeClr val="tx1"/>
                </a:solidFill>
              </a:rPr>
              <a:t> is an interactive AI command center that operationalizes meteorological forecasts into concrete district infrastructure priorities.</a:t>
            </a:r>
          </a:p>
        </p:txBody>
      </p:sp>
      <p:sp>
        <p:nvSpPr>
          <p:cNvPr id="8" name="Rounded Rectangle 7"/>
          <p:cNvSpPr/>
          <p:nvPr/>
        </p:nvSpPr>
        <p:spPr>
          <a:xfrm>
            <a:off x="4389120" y="1737360"/>
            <a:ext cx="3383280" cy="46634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34A853"/>
                </a:solidFill>
              </a:defRPr>
            </a:pPr>
            <a:r>
              <a:rPr sz="1400" dirty="0">
                <a:solidFill>
                  <a:schemeClr val="tx1"/>
                </a:solidFill>
              </a:rPr>
              <a:t>⚡ Powered by Google Cloud &amp; AI</a:t>
            </a:r>
          </a:p>
          <a:p>
            <a:br>
              <a:rPr sz="1400" dirty="0">
                <a:solidFill>
                  <a:schemeClr val="tx1"/>
                </a:solidFill>
              </a:rPr>
            </a:br>
            <a:r>
              <a:rPr sz="1400" dirty="0">
                <a:solidFill>
                  <a:schemeClr val="tx1"/>
                </a:solidFill>
              </a:rPr>
              <a:t>• </a:t>
            </a:r>
            <a:r>
              <a:rPr sz="1400" dirty="0" err="1">
                <a:solidFill>
                  <a:schemeClr val="tx1"/>
                </a:solidFill>
              </a:rPr>
              <a:t>BigQuery</a:t>
            </a:r>
            <a:r>
              <a:rPr sz="1400" dirty="0">
                <a:solidFill>
                  <a:schemeClr val="tx1"/>
                </a:solidFill>
              </a:rPr>
              <a:t> &amp; NOAA: Ingests planetary cyclone track histories and live IMD bulletins.</a:t>
            </a:r>
          </a:p>
          <a:p>
            <a:br>
              <a:rPr sz="1400" dirty="0">
                <a:solidFill>
                  <a:schemeClr val="tx1"/>
                </a:solidFill>
              </a:rPr>
            </a:br>
            <a:r>
              <a:rPr sz="1400" dirty="0">
                <a:solidFill>
                  <a:schemeClr val="tx1"/>
                </a:solidFill>
              </a:rPr>
              <a:t>• Earth Engine (GEE): SRTM 30m DEM models compound surge bathymetry and sea inundation.</a:t>
            </a:r>
          </a:p>
          <a:p>
            <a:br>
              <a:rPr sz="1400" dirty="0">
                <a:solidFill>
                  <a:schemeClr val="tx1"/>
                </a:solidFill>
              </a:rPr>
            </a:br>
            <a:r>
              <a:rPr sz="1400" dirty="0">
                <a:solidFill>
                  <a:schemeClr val="tx1"/>
                </a:solidFill>
              </a:rPr>
              <a:t>• Vertex AI-Ready ML: Calibrated Gradient Boosting scores road and hospital failures.</a:t>
            </a:r>
          </a:p>
          <a:p>
            <a:br>
              <a:rPr sz="1400" dirty="0">
                <a:solidFill>
                  <a:schemeClr val="tx1"/>
                </a:solidFill>
              </a:rPr>
            </a:br>
            <a:r>
              <a:rPr sz="1400" dirty="0">
                <a:solidFill>
                  <a:schemeClr val="tx1"/>
                </a:solidFill>
              </a:rPr>
              <a:t>• Gemini 2.5 Flash: Rapid ground photo damage triage decoupled from location.</a:t>
            </a:r>
          </a:p>
          <a:p>
            <a:br>
              <a:rPr sz="1400" dirty="0">
                <a:solidFill>
                  <a:schemeClr val="tx1"/>
                </a:solidFill>
              </a:rPr>
            </a:br>
            <a:r>
              <a:rPr sz="1400" dirty="0">
                <a:solidFill>
                  <a:schemeClr val="tx1"/>
                </a:solidFill>
              </a:rPr>
              <a:t>• Pub/Sub &amp; Cloud TTS: District-filtered life-safety alerts and voice broadcasts in 7 languages.</a:t>
            </a:r>
          </a:p>
        </p:txBody>
      </p:sp>
      <p:sp>
        <p:nvSpPr>
          <p:cNvPr id="9" name="Rounded Rectangle 8"/>
          <p:cNvSpPr/>
          <p:nvPr/>
        </p:nvSpPr>
        <p:spPr>
          <a:xfrm>
            <a:off x="8046720" y="1737360"/>
            <a:ext cx="3383280" cy="4663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BBC04"/>
                </a:solidFill>
              </a:defRPr>
            </a:pPr>
            <a:r>
              <a:rPr sz="1400" dirty="0">
                <a:solidFill>
                  <a:schemeClr val="tx1"/>
                </a:solidFill>
              </a:rPr>
              <a:t>🏆 Operational Outcomes</a:t>
            </a:r>
          </a:p>
          <a:p>
            <a:br>
              <a:rPr sz="1400" dirty="0">
                <a:solidFill>
                  <a:schemeClr val="tx1"/>
                </a:solidFill>
              </a:rPr>
            </a:br>
            <a:r>
              <a:rPr sz="1400" dirty="0">
                <a:solidFill>
                  <a:schemeClr val="tx1"/>
                </a:solidFill>
              </a:rPr>
              <a:t>• 24-48 Hour Pre-Landfall Window: Gives District Magistrates time to stage evacuation buses and rescue boats along unblocked corridors.</a:t>
            </a:r>
          </a:p>
          <a:p>
            <a:br>
              <a:rPr sz="1400" dirty="0">
                <a:solidFill>
                  <a:schemeClr val="tx1"/>
                </a:solidFill>
              </a:rPr>
            </a:br>
            <a:r>
              <a:rPr sz="1400" dirty="0">
                <a:solidFill>
                  <a:schemeClr val="tx1"/>
                </a:solidFill>
              </a:rPr>
              <a:t>• Hospital ICU Resilience: Flags at-risk health clinics for generator sandbagging.</a:t>
            </a:r>
          </a:p>
          <a:p>
            <a:br>
              <a:rPr sz="1400" dirty="0">
                <a:solidFill>
                  <a:schemeClr val="tx1"/>
                </a:solidFill>
              </a:rPr>
            </a:br>
            <a:r>
              <a:rPr sz="1400" dirty="0">
                <a:solidFill>
                  <a:schemeClr val="tx1"/>
                </a:solidFill>
              </a:rPr>
              <a:t>• Voice-First Inclusion: Reaches low-literacy fishing hamlets even when power grids fail.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Opportunities</a:t>
            </a:r>
          </a:p>
        </p:txBody>
      </p:sp>
      <p:sp>
        <p:nvSpPr>
          <p:cNvPr id="7" name="Rounded Rectangle 6"/>
          <p:cNvSpPr/>
          <p:nvPr/>
        </p:nvSpPr>
        <p:spPr>
          <a:xfrm>
            <a:off x="731520" y="1608570"/>
            <a:ext cx="10728655" cy="137160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4285F4"/>
                </a:solidFill>
              </a:defRPr>
            </a:pPr>
            <a:r>
              <a:rPr sz="1600" dirty="0"/>
              <a:t>● How different is it from any of the other existing ideas?</a:t>
            </a:r>
          </a:p>
          <a:p>
            <a:pPr>
              <a:defRPr sz="1050">
                <a:solidFill>
                  <a:srgbClr val="111827"/>
                </a:solidFill>
              </a:defRPr>
            </a:pPr>
            <a:r>
              <a:rPr sz="1600" dirty="0"/>
              <a:t>• Weather tools forecast meteorology (isobars, wind speeds) in silos; </a:t>
            </a:r>
            <a:r>
              <a:rPr sz="1600" dirty="0" err="1"/>
              <a:t>CycloneShield</a:t>
            </a:r>
            <a:r>
              <a:rPr sz="1600" dirty="0"/>
              <a:t> forecasts infrastructure consequences (submerged roads, flooded clinics, shelter shortfalls).</a:t>
            </a:r>
            <a:br>
              <a:rPr sz="1600" dirty="0"/>
            </a:br>
            <a:r>
              <a:rPr sz="1600" dirty="0"/>
              <a:t>• Anti-Hallucination Decoupling: Gemini 2.5 Flash only evaluates damage type and severity; location is determined strictly from EXIF/browser GPS and polygon boundaries, eliminating AI hallucinations.</a:t>
            </a:r>
          </a:p>
        </p:txBody>
      </p:sp>
      <p:sp>
        <p:nvSpPr>
          <p:cNvPr id="8" name="Rounded Rectangle 7"/>
          <p:cNvSpPr/>
          <p:nvPr/>
        </p:nvSpPr>
        <p:spPr>
          <a:xfrm>
            <a:off x="731520" y="3163050"/>
            <a:ext cx="10728655" cy="137160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34A853"/>
                </a:solidFill>
              </a:defRPr>
            </a:pPr>
            <a:r>
              <a:rPr sz="1400" dirty="0"/>
              <a:t>● How will it be able to solve the problem?</a:t>
            </a:r>
          </a:p>
          <a:p>
            <a:pPr>
              <a:defRPr sz="1050">
                <a:solidFill>
                  <a:srgbClr val="111827"/>
                </a:solidFill>
              </a:defRPr>
            </a:pPr>
            <a:r>
              <a:rPr sz="1600" dirty="0"/>
              <a:t>• End-to-End Decision Lifecycle: Ingests storm data -&gt; Models compound surge/flood -&gt; Predicts road/clinic failure -&gt; Triages drone photos -&gt; Dispatches targeted voice alerts.</a:t>
            </a:r>
            <a:br>
              <a:rPr sz="1600" dirty="0"/>
            </a:br>
            <a:r>
              <a:rPr sz="1600" dirty="0"/>
              <a:t>• 100% Explainable 4-Pillar Vulnerability Index (Healthcare 35%, Roads 25%, Shelters 25%, Power 15%) gives incident commanders transparent justification for life-safety actions.</a:t>
            </a:r>
          </a:p>
        </p:txBody>
      </p:sp>
      <p:sp>
        <p:nvSpPr>
          <p:cNvPr id="9" name="Rounded Rectangle 8"/>
          <p:cNvSpPr/>
          <p:nvPr/>
        </p:nvSpPr>
        <p:spPr>
          <a:xfrm>
            <a:off x="731520" y="4717529"/>
            <a:ext cx="10728655" cy="1786301"/>
          </a:xfrm>
          <a:prstGeom prst="roundRect">
            <a:avLst/>
          </a:prstGeom>
          <a:solidFill>
            <a:srgbClr val="F8FAFC"/>
          </a:solidFill>
          <a:ln w="15240">
            <a:solidFill>
              <a:srgbClr val="FBBC0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BBC04"/>
                </a:solidFill>
              </a:defRPr>
            </a:pPr>
            <a:r>
              <a:rPr sz="1600" dirty="0"/>
              <a:t>● USP of the proposed solution</a:t>
            </a:r>
          </a:p>
          <a:p>
            <a:pPr>
              <a:defRPr sz="1000">
                <a:solidFill>
                  <a:srgbClr val="111827"/>
                </a:solidFill>
              </a:defRPr>
            </a:pPr>
            <a:r>
              <a:rPr sz="1600" dirty="0"/>
              <a:t>1. 11 Native Google Cloud &amp; AI Integrations: Seamless synergy between Gemini 2.5 Flash, </a:t>
            </a:r>
            <a:r>
              <a:rPr sz="1600" dirty="0" err="1"/>
              <a:t>BigQuery</a:t>
            </a:r>
            <a:r>
              <a:rPr sz="1600" dirty="0"/>
              <a:t>, Cloud Run, Pub/Sub, GCS, Vertex AI, and Cloud TTS.</a:t>
            </a:r>
            <a:br>
              <a:rPr sz="1600" dirty="0"/>
            </a:br>
            <a:r>
              <a:rPr sz="1600" dirty="0"/>
              <a:t>2. Voice-First Inclusivity: High-fidelity Neural2 speech synthesis in 7 Indian regional languages.</a:t>
            </a:r>
            <a:br>
              <a:rPr sz="1600" dirty="0"/>
            </a:br>
            <a:r>
              <a:rPr sz="1600" dirty="0"/>
              <a:t>3. District-Filtered Alert Bus: Cloud Pub/Sub attributes route emergency alerts directly to local control rooms (e.g. Puri) without noise.</a:t>
            </a:r>
            <a:br>
              <a:rPr sz="1600" dirty="0"/>
            </a:br>
            <a:r>
              <a:rPr sz="1600" dirty="0"/>
              <a:t>4. Zero-Key Evaluator Guarantee: Works out-of-the-box offline with zero API keys required for judges.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List of features offered by the solution</a:t>
            </a:r>
          </a:p>
        </p:txBody>
      </p:sp>
      <p:sp>
        <p:nvSpPr>
          <p:cNvPr id="7" name="Rounded Rectangle 6"/>
          <p:cNvSpPr/>
          <p:nvPr/>
        </p:nvSpPr>
        <p:spPr>
          <a:xfrm>
            <a:off x="731520" y="1737360"/>
            <a:ext cx="5120640" cy="141732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4285F4"/>
                </a:solidFill>
              </a:defRPr>
            </a:pPr>
            <a:r>
              <a:t>1. Planetary Storm Ingestion &amp; BigQuery FinOps</a:t>
            </a:r>
          </a:p>
          <a:p>
            <a:pPr>
              <a:defRPr sz="1000">
                <a:solidFill>
                  <a:srgbClr val="111827"/>
                </a:solidFill>
              </a:defRPr>
            </a:pPr>
            <a:r>
              <a:t>Ingests NOAA IBTrACS historical tracks and parses dated IMD bulletins. Built-in dry-run estimators prevent runaway cloud query costs.</a:t>
            </a:r>
          </a:p>
        </p:txBody>
      </p:sp>
      <p:sp>
        <p:nvSpPr>
          <p:cNvPr id="8" name="Rounded Rectangle 7"/>
          <p:cNvSpPr/>
          <p:nvPr/>
        </p:nvSpPr>
        <p:spPr>
          <a:xfrm>
            <a:off x="6126480" y="1737360"/>
            <a:ext cx="5120640" cy="141732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34A853"/>
                </a:solidFill>
              </a:defRPr>
            </a:pPr>
            <a:r>
              <a:t>2. Dynamic Compound Surge &amp; Inundation Model</a:t>
            </a:r>
          </a:p>
          <a:p>
            <a:pPr>
              <a:defRPr sz="1000">
                <a:solidFill>
                  <a:srgbClr val="111827"/>
                </a:solidFill>
              </a:defRPr>
            </a:pPr>
            <a:r>
              <a:t>Couples barometric pressure deficits with NASA SRTM 30m DEM elevation bathymetry to map sea flooding dynamically across 5 coastal states.</a:t>
            </a:r>
          </a:p>
        </p:txBody>
      </p:sp>
      <p:sp>
        <p:nvSpPr>
          <p:cNvPr id="9" name="Rounded Rectangle 8"/>
          <p:cNvSpPr/>
          <p:nvPr/>
        </p:nvSpPr>
        <p:spPr>
          <a:xfrm>
            <a:off x="731520" y="3291839"/>
            <a:ext cx="5120640" cy="1417320"/>
          </a:xfrm>
          <a:prstGeom prst="roundRect">
            <a:avLst/>
          </a:prstGeom>
          <a:solidFill>
            <a:srgbClr val="F8FAFC"/>
          </a:solidFill>
          <a:ln w="15240">
            <a:solidFill>
              <a:srgbClr val="FBBC0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FBBC04"/>
                </a:solidFill>
              </a:defRPr>
            </a:pPr>
            <a:r>
              <a:t>3. Vertex AI-Ready Calibrated Predictive ML</a:t>
            </a:r>
          </a:p>
          <a:p>
            <a:pPr>
              <a:defRPr sz="1000">
                <a:solidFill>
                  <a:srgbClr val="111827"/>
                </a:solidFill>
              </a:defRPr>
            </a:pPr>
            <a:r>
              <a:t>HistGradientBoosting classifier predicts Highway Submersion Cut-Off and Hospital ICU Flooding with ROC-AUC &gt; 0.975 and Brier Score &lt; 0.049.</a:t>
            </a:r>
          </a:p>
        </p:txBody>
      </p:sp>
      <p:sp>
        <p:nvSpPr>
          <p:cNvPr id="10" name="Rounded Rectangle 9"/>
          <p:cNvSpPr/>
          <p:nvPr/>
        </p:nvSpPr>
        <p:spPr>
          <a:xfrm>
            <a:off x="6126480" y="3291839"/>
            <a:ext cx="5120640" cy="1417320"/>
          </a:xfrm>
          <a:prstGeom prst="roundRect">
            <a:avLst/>
          </a:prstGeom>
          <a:solidFill>
            <a:srgbClr val="F8FAFC"/>
          </a:solidFill>
          <a:ln w="15240">
            <a:solidFill>
              <a:srgbClr val="EA43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EA4335"/>
                </a:solidFill>
              </a:defRPr>
            </a:pPr>
            <a:r>
              <a:t>4. Multimodal Damage Triage via Gemini 2.5 Flash</a:t>
            </a:r>
          </a:p>
          <a:p>
            <a:pPr>
              <a:defRPr sz="1000">
                <a:solidFill>
                  <a:srgbClr val="111827"/>
                </a:solidFill>
              </a:defRPr>
            </a:pPr>
            <a:r>
              <a:t>Grades structural damage tiers (1-5), flags debris blockages, and identifies heavy rescue machinery needs (dewatering pumps, earthmovers).</a:t>
            </a:r>
          </a:p>
        </p:txBody>
      </p:sp>
      <p:sp>
        <p:nvSpPr>
          <p:cNvPr id="11" name="Rounded Rectangle 10"/>
          <p:cNvSpPr/>
          <p:nvPr/>
        </p:nvSpPr>
        <p:spPr>
          <a:xfrm>
            <a:off x="731520" y="4846320"/>
            <a:ext cx="5120640" cy="141732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4285F4"/>
                </a:solidFill>
              </a:defRPr>
            </a:pPr>
            <a:r>
              <a:t>5. Audit-Proof Evidence Store &amp; Pub/Sub Alerts</a:t>
            </a:r>
          </a:p>
          <a:p>
            <a:pPr>
              <a:defRPr sz="1000">
                <a:solidFill>
                  <a:srgbClr val="111827"/>
                </a:solidFill>
              </a:defRPr>
            </a:pPr>
            <a:r>
              <a:t>Stores photos and audit JSON in GCS (gs://BUCKET/state/district/). Publishes CRITICAL/HIGH alerts to Pub/Sub with district-level filtering.</a:t>
            </a:r>
          </a:p>
        </p:txBody>
      </p:sp>
      <p:sp>
        <p:nvSpPr>
          <p:cNvPr id="12" name="Rounded Rectangle 11"/>
          <p:cNvSpPr/>
          <p:nvPr/>
        </p:nvSpPr>
        <p:spPr>
          <a:xfrm>
            <a:off x="6126480" y="4846320"/>
            <a:ext cx="5120640" cy="141732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34A853"/>
                </a:solidFill>
              </a:defRPr>
            </a:pPr>
            <a:r>
              <a:t>6. Voice-First Alerting &amp; What-If Simulator</a:t>
            </a:r>
          </a:p>
          <a:p>
            <a:pPr>
              <a:defRPr sz="1000">
                <a:solidFill>
                  <a:srgbClr val="111827"/>
                </a:solidFill>
              </a:defRPr>
            </a:pPr>
            <a:r>
              <a:t>Google Cloud TTS Neural2 broadcasts in 7 regional Indian languages. Dynamic meteorological sliders allow real-time counterfactual simulation.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Process flow diagram or Use-case diagram</a:t>
            </a:r>
          </a:p>
        </p:txBody>
      </p:sp>
      <p:sp>
        <p:nvSpPr>
          <p:cNvPr id="7" name="Rounded Rectangle 6"/>
          <p:cNvSpPr/>
          <p:nvPr/>
        </p:nvSpPr>
        <p:spPr>
          <a:xfrm>
            <a:off x="731520" y="1737360"/>
            <a:ext cx="2514600" cy="32918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4285F4"/>
                </a:solidFill>
              </a:defRPr>
            </a:pPr>
            <a:r>
              <a:t>1. INGESTION</a:t>
            </a:r>
          </a:p>
          <a:p>
            <a:br/>
            <a:r>
              <a:t>• NOAA IBTrACS (BigQuery)</a:t>
            </a:r>
            <a:br/>
            <a:r>
              <a:t>• IMD RSMC Cyclone Bulletins</a:t>
            </a:r>
            <a:br/>
            <a:r>
              <a:t>• OpenStreetMap Road Networks</a:t>
            </a:r>
            <a:br/>
            <a:r>
              <a:t>• Census 2011 Demographics</a:t>
            </a:r>
          </a:p>
        </p:txBody>
      </p:sp>
      <p:sp>
        <p:nvSpPr>
          <p:cNvPr id="8" name="Rounded Rectangle 7"/>
          <p:cNvSpPr/>
          <p:nvPr/>
        </p:nvSpPr>
        <p:spPr>
          <a:xfrm>
            <a:off x="3429000" y="1737360"/>
            <a:ext cx="2514600" cy="32918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34A853"/>
                </a:solidFill>
              </a:defRPr>
            </a:pPr>
            <a:r>
              <a:t>2. HAZARD &amp; ML</a:t>
            </a:r>
          </a:p>
          <a:p>
            <a:br/>
            <a:r>
              <a:t>• Earth Engine SRTM 30m DEM</a:t>
            </a:r>
            <a:br/>
            <a:r>
              <a:t>• Dynamic Bathymetric Surge</a:t>
            </a:r>
            <a:br/>
            <a:r>
              <a:t>• Calibrated HistGradientBoosting</a:t>
            </a:r>
            <a:br/>
            <a:r>
              <a:t>• 4-Pillar Vulnerability Index</a:t>
            </a:r>
          </a:p>
        </p:txBody>
      </p:sp>
      <p:sp>
        <p:nvSpPr>
          <p:cNvPr id="9" name="Rounded Rectangle 8"/>
          <p:cNvSpPr/>
          <p:nvPr/>
        </p:nvSpPr>
        <p:spPr>
          <a:xfrm>
            <a:off x="6126480" y="1737360"/>
            <a:ext cx="2514600" cy="3291840"/>
          </a:xfrm>
          <a:prstGeom prst="roundRect">
            <a:avLst/>
          </a:prstGeom>
          <a:solidFill>
            <a:srgbClr val="F8FAFC"/>
          </a:solidFill>
          <a:ln w="15240">
            <a:solidFill>
              <a:srgbClr val="FBBC0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BBC04"/>
                </a:solidFill>
              </a:defRPr>
            </a:pPr>
            <a:r>
              <a:t>3. TRIAGE &amp; VAULT</a:t>
            </a:r>
          </a:p>
          <a:p>
            <a:br/>
            <a:r>
              <a:t>• Post-Disaster Drone / Mobile Photo</a:t>
            </a:r>
            <a:br/>
            <a:r>
              <a:t>• Deterministic EXIF/Device GPS</a:t>
            </a:r>
            <a:br/>
            <a:r>
              <a:t>• Gemini 2.5 Flash Severity (1-5)</a:t>
            </a:r>
            <a:br/>
            <a:r>
              <a:t>• Google Cloud Storage Vault</a:t>
            </a:r>
          </a:p>
        </p:txBody>
      </p:sp>
      <p:sp>
        <p:nvSpPr>
          <p:cNvPr id="10" name="Rounded Rectangle 9"/>
          <p:cNvSpPr/>
          <p:nvPr/>
        </p:nvSpPr>
        <p:spPr>
          <a:xfrm>
            <a:off x="8823960" y="1737360"/>
            <a:ext cx="2514600" cy="3291840"/>
          </a:xfrm>
          <a:prstGeom prst="roundRect">
            <a:avLst/>
          </a:prstGeom>
          <a:solidFill>
            <a:srgbClr val="F8FAFC"/>
          </a:solidFill>
          <a:ln w="15240">
            <a:solidFill>
              <a:srgbClr val="EA43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A4335"/>
                </a:solidFill>
              </a:defRPr>
            </a:pPr>
            <a:r>
              <a:t>4. ALERT DISPATCH</a:t>
            </a:r>
          </a:p>
          <a:p>
            <a:br/>
            <a:r>
              <a:t>• Google Cloud Pub/Sub Bus</a:t>
            </a:r>
            <a:br/>
            <a:r>
              <a:t>• District Filter (attr = 'Puri')</a:t>
            </a:r>
            <a:br/>
            <a:r>
              <a:t>• Cloud TTS in 7 Languages</a:t>
            </a:r>
            <a:br/>
            <a:r>
              <a:t>• CAP v1.2 XML / Radio Broadcast</a:t>
            </a:r>
          </a:p>
        </p:txBody>
      </p:sp>
      <p:sp>
        <p:nvSpPr>
          <p:cNvPr id="11" name="Rounded Rectangle 10"/>
          <p:cNvSpPr/>
          <p:nvPr/>
        </p:nvSpPr>
        <p:spPr>
          <a:xfrm>
            <a:off x="731520" y="5212080"/>
            <a:ext cx="10728655" cy="118872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4285F4"/>
                </a:solidFill>
              </a:defRPr>
            </a:pPr>
            <a:r>
              <a:t>👥 Operational Persona Use-Cases:</a:t>
            </a:r>
          </a:p>
          <a:p>
            <a:pPr>
              <a:defRPr sz="950">
                <a:solidFill>
                  <a:srgbClr val="4B5563"/>
                </a:solidFill>
              </a:defRPr>
            </a:pPr>
            <a:r>
              <a:t>• District Magistrate: Issues prioritized evacuation orders for high-risk zones 24-48 hrs before landfall.</a:t>
            </a:r>
            <a:br/>
            <a:r>
              <a:t>• NDRF Battalion Commander: Pre-stages boats, pumps, and convoys along unblocked highway corridors.</a:t>
            </a:r>
            <a:br/>
            <a:r>
              <a:t>• Hospital Chief Medical Officer: Sandbags backup generator basements to maintain ICU oxygen and power.</a:t>
            </a:r>
            <a:br/>
            <a:r>
              <a:t>• Coastal Citizen: Receives native-language voice alerts via community FM radio and police loudspeaker vans.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Wireframes/Mock diagrams of the proposed solution (optional)</a:t>
            </a:r>
          </a:p>
        </p:txBody>
      </p:sp>
      <p:sp>
        <p:nvSpPr>
          <p:cNvPr id="7" name="Rounded Rectangle 6"/>
          <p:cNvSpPr/>
          <p:nvPr/>
        </p:nvSpPr>
        <p:spPr>
          <a:xfrm>
            <a:off x="731520" y="1737360"/>
            <a:ext cx="4389120"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4285F4"/>
                </a:solidFill>
              </a:defRPr>
            </a:pPr>
            <a:r>
              <a:rPr dirty="0"/>
              <a:t>🖥️ Command Center Layout Structure</a:t>
            </a:r>
          </a:p>
          <a:p>
            <a:br>
              <a:rPr dirty="0"/>
            </a:br>
            <a:r>
              <a:rPr dirty="0"/>
              <a:t>1. Sidebar Control Panel:</a:t>
            </a:r>
          </a:p>
          <a:p>
            <a:pPr>
              <a:defRPr sz="1000">
                <a:solidFill>
                  <a:srgbClr val="4B5563"/>
                </a:solidFill>
              </a:defRPr>
            </a:pPr>
            <a:r>
              <a:rPr dirty="0"/>
              <a:t>State selector (5 states), Storm catalog (13 storms), Live IMD bulletin fetcher, and 7-language UI switcher.</a:t>
            </a:r>
          </a:p>
          <a:p>
            <a:br>
              <a:rPr dirty="0"/>
            </a:br>
            <a:r>
              <a:rPr dirty="0"/>
              <a:t>2. Situation-at-a-Glance Executive Card:</a:t>
            </a:r>
          </a:p>
          <a:p>
            <a:pPr>
              <a:defRPr sz="1000">
                <a:solidFill>
                  <a:srgbClr val="4B5563"/>
                </a:solidFill>
              </a:defRPr>
            </a:pPr>
            <a:r>
              <a:t>Cyclone name, Category, Landfall ETA, Exposed Population, and Top 3 immediate operational directives.</a:t>
            </a:r>
          </a:p>
          <a:p>
            <a:br>
              <a:rPr dirty="0"/>
            </a:br>
            <a:r>
              <a:rPr dirty="0"/>
              <a:t>3. Multi-Layer Leaflet / Folium Map:</a:t>
            </a:r>
          </a:p>
          <a:p>
            <a:pPr>
              <a:defRPr sz="1000">
                <a:solidFill>
                  <a:srgbClr val="4B5563"/>
                </a:solidFill>
              </a:defRPr>
            </a:pPr>
            <a:r>
              <a:rPr dirty="0"/>
              <a:t>Toggleable layers for wind swaths, bathtub surge inundation, critical hospitals, and arterial roads.</a:t>
            </a:r>
          </a:p>
        </p:txBody>
      </p:sp>
      <p:pic>
        <p:nvPicPr>
          <p:cNvPr id="8" name="Picture 7" descr="01_spatial_hazard_core.png"/>
          <p:cNvPicPr>
            <a:picLocks noChangeAspect="1"/>
          </p:cNvPicPr>
          <p:nvPr/>
        </p:nvPicPr>
        <p:blipFill>
          <a:blip r:embed="rId3"/>
          <a:stretch>
            <a:fillRect/>
          </a:stretch>
        </p:blipFill>
        <p:spPr>
          <a:xfrm>
            <a:off x="5394960" y="1737360"/>
            <a:ext cx="6035040"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Architecture diagram of the proposed solution</a:t>
            </a:r>
          </a:p>
        </p:txBody>
      </p:sp>
      <p:sp>
        <p:nvSpPr>
          <p:cNvPr id="7" name="Rounded Rectangle 6"/>
          <p:cNvSpPr/>
          <p:nvPr/>
        </p:nvSpPr>
        <p:spPr>
          <a:xfrm>
            <a:off x="731520" y="1737360"/>
            <a:ext cx="4754880" cy="46634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34A853"/>
                </a:solidFill>
              </a:defRPr>
            </a:pPr>
            <a:r>
              <a:t>☁️ 11-Service Cloud Architecture</a:t>
            </a:r>
          </a:p>
          <a:p>
            <a:br/>
            <a:r>
              <a:t>• Client &amp; Edge Tier:</a:t>
            </a:r>
          </a:p>
          <a:p>
            <a:pPr>
              <a:defRPr sz="950">
                <a:solidFill>
                  <a:srgbClr val="4B5563"/>
                </a:solidFill>
              </a:defRPr>
            </a:pPr>
            <a:r>
              <a:t>Containerized Streamlit command center on Google Cloud Run (port 8080) with native HTTPS for browser GPS.</a:t>
            </a:r>
          </a:p>
          <a:p>
            <a:br/>
            <a:r>
              <a:t>• Data &amp; Analytics Tier:</a:t>
            </a:r>
          </a:p>
          <a:p>
            <a:pPr>
              <a:defRPr sz="950">
                <a:solidFill>
                  <a:srgbClr val="4B5563"/>
                </a:solidFill>
              </a:defRPr>
            </a:pPr>
            <a:r>
              <a:t>Google BigQuery (NOAA IBTrACS) + Google Earth Engine (NASA SRTM 30m DEM elevation bathymetry).</a:t>
            </a:r>
          </a:p>
          <a:p>
            <a:br/>
            <a:r>
              <a:t>• Machine Learning &amp; Perception Tier:</a:t>
            </a:r>
          </a:p>
          <a:p>
            <a:pPr>
              <a:defRPr sz="950">
                <a:solidFill>
                  <a:srgbClr val="4B5563"/>
                </a:solidFill>
              </a:defRPr>
            </a:pPr>
            <a:r>
              <a:t>Vertex AI Model Registry + Calibrated Gradient Boosting + Gemini 2.5 Flash Multimodal Vision.</a:t>
            </a:r>
          </a:p>
          <a:p>
            <a:br/>
            <a:r>
              <a:t>• Event Bus &amp; Security Tier:</a:t>
            </a:r>
          </a:p>
          <a:p>
            <a:pPr>
              <a:defRPr sz="950">
                <a:solidFill>
                  <a:srgbClr val="4B5563"/>
                </a:solidFill>
              </a:defRPr>
            </a:pPr>
            <a:r>
              <a:t>Cloud Pub/Sub (district-filtered) + Cloud Storage (evidence vault) + Secret Manager &amp; Cloud Build CI/CD.</a:t>
            </a:r>
          </a:p>
        </p:txBody>
      </p:sp>
      <p:pic>
        <p:nvPicPr>
          <p:cNvPr id="8" name="Picture 7" descr="04_bigquery_cloudrun.png"/>
          <p:cNvPicPr>
            <a:picLocks noChangeAspect="1"/>
          </p:cNvPicPr>
          <p:nvPr/>
        </p:nvPicPr>
        <p:blipFill>
          <a:blip r:embed="rId3"/>
          <a:stretch>
            <a:fillRect/>
          </a:stretch>
        </p:blipFill>
        <p:spPr>
          <a:xfrm>
            <a:off x="5760720" y="1737360"/>
            <a:ext cx="5669280" cy="4663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Technologies to be used in the solution</a:t>
            </a:r>
          </a:p>
        </p:txBody>
      </p:sp>
      <p:sp>
        <p:nvSpPr>
          <p:cNvPr id="7" name="Rounded Rectangle 6"/>
          <p:cNvSpPr/>
          <p:nvPr/>
        </p:nvSpPr>
        <p:spPr>
          <a:xfrm>
            <a:off x="731520" y="1737360"/>
            <a:ext cx="3383280"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4285F4"/>
                </a:solidFill>
              </a:defRPr>
            </a:pPr>
            <a:r>
              <a:t>☁️ Google Cloud &amp; AI</a:t>
            </a:r>
          </a:p>
          <a:p>
            <a:br/>
            <a:r>
              <a:t>• Google Gemini 2.5 Flash</a:t>
            </a:r>
            <a:br/>
            <a:r>
              <a:t>  (Damage Triage &amp; Advisories)</a:t>
            </a:r>
            <a:br/>
            <a:r>
              <a:t>• Google BigQuery</a:t>
            </a:r>
            <a:br/>
            <a:r>
              <a:t>  (NOAA IBTrACS Planetary Data)</a:t>
            </a:r>
            <a:br/>
            <a:r>
              <a:t>• Google Cloud Run</a:t>
            </a:r>
            <a:br/>
            <a:r>
              <a:t>  (Production Serverless Web App)</a:t>
            </a:r>
            <a:br/>
            <a:r>
              <a:t>• Google Cloud Pub/Sub</a:t>
            </a:r>
            <a:br/>
            <a:r>
              <a:t>  (District-Filtered Event Bus)</a:t>
            </a:r>
            <a:br/>
            <a:r>
              <a:t>• Google Cloud Storage</a:t>
            </a:r>
            <a:br/>
            <a:r>
              <a:t>  (Audit Evidence Vault)</a:t>
            </a:r>
            <a:br/>
            <a:r>
              <a:t>• Google Vertex AI (Ready)</a:t>
            </a:r>
            <a:br/>
            <a:r>
              <a:t>  (Model Registry Manifest)</a:t>
            </a:r>
            <a:br/>
            <a:r>
              <a:t>• Google Cloud Text-to-Speech</a:t>
            </a:r>
            <a:br/>
            <a:r>
              <a:t>  (Neural2 in 7 Indian Languages)</a:t>
            </a:r>
            <a:br/>
            <a:r>
              <a:t>• Google Earth Engine (GEE)</a:t>
            </a:r>
            <a:br/>
            <a:r>
              <a:t>  (SRTM 30m Elevation DEM)</a:t>
            </a:r>
            <a:br/>
            <a:r>
              <a:t>• Google Secret Manager &amp; Cloud Build</a:t>
            </a:r>
            <a:br/>
            <a:r>
              <a:t>  (Zero-Trust Keyless CI/CD)</a:t>
            </a:r>
          </a:p>
        </p:txBody>
      </p:sp>
      <p:sp>
        <p:nvSpPr>
          <p:cNvPr id="8" name="Rounded Rectangle 7"/>
          <p:cNvSpPr/>
          <p:nvPr/>
        </p:nvSpPr>
        <p:spPr>
          <a:xfrm>
            <a:off x="4389120" y="1737360"/>
            <a:ext cx="3383280" cy="46634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34A853"/>
                </a:solidFill>
              </a:defRPr>
            </a:pPr>
            <a:r>
              <a:t>💻 Core Software &amp; ML</a:t>
            </a:r>
          </a:p>
          <a:p>
            <a:br/>
            <a:r>
              <a:t>• Python 3.11 Runtime</a:t>
            </a:r>
            <a:br/>
            <a:r>
              <a:t>• Streamlit (Headless UI Framework)</a:t>
            </a:r>
            <a:br/>
            <a:r>
              <a:t>• Scikit-Learn</a:t>
            </a:r>
            <a:br/>
            <a:r>
              <a:t>  (HistGradientBoosting, CalibratedClassifierCV)</a:t>
            </a:r>
            <a:br/>
            <a:r>
              <a:t>• GeoPandas &amp; Shapely</a:t>
            </a:r>
            <a:br/>
            <a:r>
              <a:t>  (Point-in-Polygon &amp; Spatial Joins)</a:t>
            </a:r>
            <a:br/>
            <a:r>
              <a:t>• PyProj &amp; EPSG UTM</a:t>
            </a:r>
            <a:br/>
            <a:r>
              <a:t>  (EPSG:32642 to EPSG:32645)</a:t>
            </a:r>
            <a:br/>
            <a:r>
              <a:t>• Folium &amp; Leaflet.js</a:t>
            </a:r>
            <a:br/>
            <a:r>
              <a:t>  (Interactive Map Layers)</a:t>
            </a:r>
            <a:br/>
            <a:r>
              <a:t>• Pillow &amp; EXIFRead</a:t>
            </a:r>
            <a:br/>
            <a:r>
              <a:t>  (Deterministic GPS Parsing)</a:t>
            </a:r>
            <a:br/>
            <a:r>
              <a:t>• Docker</a:t>
            </a:r>
            <a:br/>
            <a:r>
              <a:t>  (Multi-Stage Container Runtime)</a:t>
            </a:r>
          </a:p>
        </p:txBody>
      </p:sp>
      <p:sp>
        <p:nvSpPr>
          <p:cNvPr id="9" name="Rounded Rectangle 8"/>
          <p:cNvSpPr/>
          <p:nvPr/>
        </p:nvSpPr>
        <p:spPr>
          <a:xfrm>
            <a:off x="8046720" y="1737360"/>
            <a:ext cx="3383280" cy="4663440"/>
          </a:xfrm>
          <a:prstGeom prst="roundRect">
            <a:avLst/>
          </a:prstGeom>
          <a:solidFill>
            <a:srgbClr val="F8FAFC"/>
          </a:solidFill>
          <a:ln w="15240">
            <a:solidFill>
              <a:srgbClr val="FBBC0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FBBC04"/>
                </a:solidFill>
              </a:defRPr>
            </a:pPr>
            <a:r>
              <a:t>🌐 Authoritative Data Feeds</a:t>
            </a:r>
          </a:p>
          <a:p>
            <a:br/>
            <a:r>
              <a:t>• NOAA IBTrACS v4</a:t>
            </a:r>
            <a:br/>
            <a:r>
              <a:t>  (North Indian Ocean Cyclone Catalog)</a:t>
            </a:r>
            <a:br/>
            <a:r>
              <a:t>• IMD / RSMC New Delhi</a:t>
            </a:r>
            <a:br/>
            <a:r>
              <a:t>  (Official Synoptic Cyclone Bulletins)</a:t>
            </a:r>
            <a:br/>
            <a:r>
              <a:t>• NASA SRTM 30m DEM</a:t>
            </a:r>
            <a:br/>
            <a:r>
              <a:t>  (Digital Elevation Model)</a:t>
            </a:r>
            <a:br/>
            <a:r>
              <a:t>• OpenStreetMap (Overpass API)</a:t>
            </a:r>
            <a:br/>
            <a:r>
              <a:t>  (Hospitals, PHCs, Arterial Roads)</a:t>
            </a:r>
            <a:br/>
            <a:r>
              <a:t>• Census of India 2011</a:t>
            </a:r>
            <a:br/>
            <a:r>
              <a:t>  (District Coastal Populations)</a:t>
            </a:r>
            <a:br/>
            <a:r>
              <a:t>• NDMA / UNDP Coastal Studies</a:t>
            </a:r>
            <a:br/>
            <a:r>
              <a:t>  (Coastal Vulnerability Standards)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Estimated implementation cost (optional)</a:t>
            </a:r>
          </a:p>
        </p:txBody>
      </p:sp>
      <p:sp>
        <p:nvSpPr>
          <p:cNvPr id="7" name="Rounded Rectangle 6"/>
          <p:cNvSpPr/>
          <p:nvPr/>
        </p:nvSpPr>
        <p:spPr>
          <a:xfrm>
            <a:off x="731520" y="1737360"/>
            <a:ext cx="5120640" cy="46634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34A853"/>
                </a:solidFill>
              </a:defRPr>
            </a:pPr>
            <a:r>
              <a:t>🆓 Prototype &amp; Evaluation Tier: $0 / month</a:t>
            </a:r>
          </a:p>
          <a:p>
            <a:br/>
            <a:r>
              <a:t>• Google Cloud Run: 0 cost within 2M free requests &amp; 360k vCPU-seconds per month.</a:t>
            </a:r>
          </a:p>
          <a:p>
            <a:br/>
            <a:r>
              <a:t>• Google BigQuery: 0 cost within 1 TB free monthly query quota (FinOps dry-run enabled).</a:t>
            </a:r>
          </a:p>
          <a:p>
            <a:br/>
            <a:r>
              <a:t>• Google Cloud Storage: 0 cost within 5 GB standard multi-region storage allowance.</a:t>
            </a:r>
          </a:p>
          <a:p>
            <a:br/>
            <a:r>
              <a:t>• Google Cloud Text-to-Speech: 0 cost within 1M characters free monthly allowance.</a:t>
            </a:r>
          </a:p>
          <a:p>
            <a:br/>
            <a:r>
              <a:t>• Gemini 2.5 Flash: Free tier evaluation quota (15 RPM) with pre-computed zero-key fallbacks.</a:t>
            </a:r>
          </a:p>
        </p:txBody>
      </p:sp>
      <p:sp>
        <p:nvSpPr>
          <p:cNvPr id="8" name="Rounded Rectangle 7"/>
          <p:cNvSpPr/>
          <p:nvPr/>
        </p:nvSpPr>
        <p:spPr>
          <a:xfrm>
            <a:off x="6309360" y="1737360"/>
            <a:ext cx="5120640"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4285F4"/>
                </a:solidFill>
              </a:defRPr>
            </a:pPr>
            <a:r>
              <a:t>🏛️ State Authority Production Pilot: ~$25.80 / mo</a:t>
            </a:r>
          </a:p>
          <a:p>
            <a:pPr>
              <a:defRPr sz="1100" b="1">
                <a:solidFill>
                  <a:srgbClr val="111827"/>
                </a:solidFill>
              </a:defRPr>
            </a:pPr>
            <a:r>
              <a:t>For full 6-month operational deployment across 1 active coastal state (~₹2,140 / month):</a:t>
            </a:r>
          </a:p>
          <a:p>
            <a:br/>
            <a:r>
              <a:t>• Cloud Run (API &amp; Command Center): 2 vCPU, 4GB RAM, auto-scaled to 0 -&gt; ~$12.00 / mo</a:t>
            </a:r>
          </a:p>
          <a:p>
            <a:pPr>
              <a:defRPr sz="1050">
                <a:solidFill>
                  <a:srgbClr val="111827"/>
                </a:solidFill>
              </a:defRPr>
            </a:pPr>
            <a:r>
              <a:t>• Google Cloud TTS (Regional Alerts): ~250k chars per storm event -&gt; ~$4.00 / mo</a:t>
            </a:r>
          </a:p>
          <a:p>
            <a:pPr>
              <a:defRPr sz="1050">
                <a:solidFill>
                  <a:srgbClr val="111827"/>
                </a:solidFill>
              </a:defRPr>
            </a:pPr>
            <a:r>
              <a:t>• Gemini 2.5 Flash (Vision Triage): ~500 prompt runs + 200 drone images -&gt; ~$8.50 / mo</a:t>
            </a:r>
          </a:p>
          <a:p>
            <a:pPr>
              <a:defRPr sz="1050">
                <a:solidFill>
                  <a:srgbClr val="111827"/>
                </a:solidFill>
              </a:defRPr>
            </a:pPr>
            <a:r>
              <a:t>• Cloud Storage (GeoJSON &amp; Audio): 50 GB multi-region storage -&gt; ~$1.30 / mo</a:t>
            </a:r>
          </a:p>
          <a:p>
            <a:br/>
            <a:r>
              <a:t>Total Estimated State Cost: ~$25.80 / month (~₹2,140 INR). Delivering extreme public safety ROI.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Snapshots of the prototype</a:t>
            </a:r>
          </a:p>
        </p:txBody>
      </p:sp>
      <p:pic>
        <p:nvPicPr>
          <p:cNvPr id="7" name="Picture 6" descr="01_spatial_hazard_core.png"/>
          <p:cNvPicPr>
            <a:picLocks noChangeAspect="1"/>
          </p:cNvPicPr>
          <p:nvPr/>
        </p:nvPicPr>
        <p:blipFill>
          <a:blip r:embed="rId3"/>
          <a:stretch>
            <a:fillRect/>
          </a:stretch>
        </p:blipFill>
        <p:spPr>
          <a:xfrm>
            <a:off x="731520" y="1737360"/>
            <a:ext cx="5120640" cy="3840480"/>
          </a:xfrm>
          <a:prstGeom prst="rect">
            <a:avLst/>
          </a:prstGeom>
        </p:spPr>
      </p:pic>
      <p:sp>
        <p:nvSpPr>
          <p:cNvPr id="8" name="Rounded Rectangle 7"/>
          <p:cNvSpPr/>
          <p:nvPr/>
        </p:nvSpPr>
        <p:spPr>
          <a:xfrm>
            <a:off x="731520" y="5669280"/>
            <a:ext cx="5120640" cy="73152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111827"/>
                </a:solidFill>
              </a:defRPr>
            </a:pPr>
            <a:r>
              <a:t>🗺️ Spatial Hazard Core: Live Folium map with wind swath contours, sea flood zones, and district risk rankings.</a:t>
            </a:r>
          </a:p>
        </p:txBody>
      </p:sp>
      <p:pic>
        <p:nvPicPr>
          <p:cNvPr id="9" name="Picture 8" descr="02_ground_damage_triage.png"/>
          <p:cNvPicPr>
            <a:picLocks noChangeAspect="1"/>
          </p:cNvPicPr>
          <p:nvPr/>
        </p:nvPicPr>
        <p:blipFill>
          <a:blip r:embed="rId4"/>
          <a:stretch>
            <a:fillRect/>
          </a:stretch>
        </p:blipFill>
        <p:spPr>
          <a:xfrm>
            <a:off x="6309360" y="1737360"/>
            <a:ext cx="5120640" cy="3840480"/>
          </a:xfrm>
          <a:prstGeom prst="rect">
            <a:avLst/>
          </a:prstGeom>
        </p:spPr>
      </p:pic>
      <p:sp>
        <p:nvSpPr>
          <p:cNvPr id="10" name="Rounded Rectangle 9"/>
          <p:cNvSpPr/>
          <p:nvPr/>
        </p:nvSpPr>
        <p:spPr>
          <a:xfrm>
            <a:off x="6309360" y="5669280"/>
            <a:ext cx="5120640" cy="73152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a:solidFill>
                  <a:srgbClr val="111827"/>
                </a:solidFill>
              </a:defRPr>
            </a:pPr>
            <a:r>
              <a:t>📸 Ground Damage Triage: Gemini 2.5 Flash multimodal vision grading severity tiers and saving evidence to GCS.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Prototype Performance report/Benchmarking</a:t>
            </a:r>
          </a:p>
        </p:txBody>
      </p:sp>
      <p:pic>
        <p:nvPicPr>
          <p:cNvPr id="7" name="Picture 6" descr="lifeline_model_evaluation.png"/>
          <p:cNvPicPr>
            <a:picLocks noChangeAspect="1"/>
          </p:cNvPicPr>
          <p:nvPr/>
        </p:nvPicPr>
        <p:blipFill>
          <a:blip r:embed="rId3"/>
          <a:stretch>
            <a:fillRect/>
          </a:stretch>
        </p:blipFill>
        <p:spPr>
          <a:xfrm>
            <a:off x="731520" y="1737360"/>
            <a:ext cx="5303520" cy="4663440"/>
          </a:xfrm>
          <a:prstGeom prst="rect">
            <a:avLst/>
          </a:prstGeom>
        </p:spPr>
      </p:pic>
      <p:sp>
        <p:nvSpPr>
          <p:cNvPr id="8" name="Rounded Rectangle 7"/>
          <p:cNvSpPr/>
          <p:nvPr/>
        </p:nvSpPr>
        <p:spPr>
          <a:xfrm>
            <a:off x="6309360" y="1737360"/>
            <a:ext cx="5120640"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4285F4"/>
                </a:solidFill>
              </a:defRPr>
            </a:pPr>
            <a:r>
              <a:t>📊 Calibrated Model Benchmark Results</a:t>
            </a:r>
          </a:p>
          <a:p>
            <a:br/>
            <a:r>
              <a:t>• Target A: Highway Submersion Cut-Off Risk</a:t>
            </a:r>
          </a:p>
          <a:p>
            <a:pPr>
              <a:defRPr sz="1000">
                <a:solidFill>
                  <a:srgbClr val="4B5563"/>
                </a:solidFill>
              </a:defRPr>
            </a:pPr>
            <a:r>
              <a:t>  - ROC-AUC: 0.9739 | PR-AUC: 0.9042</a:t>
            </a:r>
            <a:br/>
            <a:r>
              <a:t>  - Accuracy: 93.06% | Brier Score: 0.0497</a:t>
            </a:r>
            <a:br/>
            <a:r>
              <a:t>  - Precision: 0.8879 | Recall: 0.7252</a:t>
            </a:r>
          </a:p>
          <a:p>
            <a:br/>
            <a:r>
              <a:t>• Target B: Healthcare Facility Inundation Risk</a:t>
            </a:r>
          </a:p>
          <a:p>
            <a:pPr>
              <a:defRPr sz="1000">
                <a:solidFill>
                  <a:srgbClr val="4B5563"/>
                </a:solidFill>
              </a:defRPr>
            </a:pPr>
            <a:r>
              <a:t>  - ROC-AUC: 0.9758 | PR-AUC: 0.8877</a:t>
            </a:r>
            <a:br/>
            <a:r>
              <a:t>  - Accuracy: 93.47% | Brier Score: 0.0457</a:t>
            </a:r>
            <a:br/>
            <a:r>
              <a:t>  - Precision: 0.8824 | Recall: 0.7317</a:t>
            </a:r>
          </a:p>
          <a:p>
            <a:br/>
            <a:r>
              <a:t>• Cloud Serving Latencies (Benchmarked):</a:t>
            </a:r>
          </a:p>
          <a:p>
            <a:pPr>
              <a:defRPr sz="1000">
                <a:solidFill>
                  <a:srgbClr val="34A853"/>
                </a:solidFill>
              </a:defRPr>
            </a:pPr>
            <a:r>
              <a:t>  - Vertex AI Model Serving: ~4.2 ms estimated</a:t>
            </a:r>
            <a:br/>
            <a:r>
              <a:t>  - BigQuery Dry-Run Validation: ~180 ms</a:t>
            </a:r>
            <a:br/>
            <a:r>
              <a:t>  - Cloud Pub/Sub Event Dispatch: ~85 ms</a:t>
            </a:r>
            <a:br/>
            <a:r>
              <a:t>  - Cloud TTS Neural2 Audio Synthesis: ~620 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Additional Details/Future Development (if any)</a:t>
            </a:r>
          </a:p>
        </p:txBody>
      </p:sp>
      <p:sp>
        <p:nvSpPr>
          <p:cNvPr id="7" name="Rounded Rectangle 6"/>
          <p:cNvSpPr/>
          <p:nvPr/>
        </p:nvSpPr>
        <p:spPr>
          <a:xfrm>
            <a:off x="731520" y="1737360"/>
            <a:ext cx="3383280" cy="4663440"/>
          </a:xfrm>
          <a:prstGeom prst="roundRect">
            <a:avLst/>
          </a:prstGeom>
          <a:solidFill>
            <a:srgbClr val="F8FAFC"/>
          </a:solidFill>
          <a:ln w="15240">
            <a:solidFill>
              <a:srgbClr val="EA43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A4335"/>
                </a:solidFill>
              </a:defRPr>
            </a:pPr>
            <a:r>
              <a:t>⚠️ Responsible AI Disclosures</a:t>
            </a:r>
          </a:p>
          <a:p>
            <a:br/>
            <a:r>
              <a:t>• Bathtub Surge Model:</a:t>
            </a:r>
          </a:p>
          <a:p>
            <a:pPr>
              <a:defRPr sz="1000">
                <a:solidFill>
                  <a:srgbClr val="4B5563"/>
                </a:solidFill>
              </a:defRPr>
            </a:pPr>
            <a:r>
              <a:t>Uses SRTM 30m elevation; does not currently model dynamic astronomical tidal harmonics.</a:t>
            </a:r>
          </a:p>
          <a:p>
            <a:br/>
            <a:r>
              <a:t>• Synthetic ML Calibration:</a:t>
            </a:r>
          </a:p>
          <a:p>
            <a:pPr>
              <a:defRPr sz="1000">
                <a:solidFill>
                  <a:srgbClr val="4B5563"/>
                </a:solidFill>
              </a:defRPr>
            </a:pPr>
            <a:r>
              <a:t>Trained on 3,600 physics-simulated disaster scenarios; pending NDRF field damage log validation.</a:t>
            </a:r>
          </a:p>
          <a:p>
            <a:br/>
            <a:r>
              <a:t>• Human-in-the-Loop Safeguard:</a:t>
            </a:r>
          </a:p>
          <a:p>
            <a:pPr>
              <a:defRPr sz="1000">
                <a:solidFill>
                  <a:srgbClr val="4B5563"/>
                </a:solidFill>
              </a:defRPr>
            </a:pPr>
            <a:r>
              <a:t>All AI-generated advisories and triage results require authorized human officer verification.</a:t>
            </a:r>
          </a:p>
        </p:txBody>
      </p:sp>
      <p:sp>
        <p:nvSpPr>
          <p:cNvPr id="8" name="Rounded Rectangle 7"/>
          <p:cNvSpPr/>
          <p:nvPr/>
        </p:nvSpPr>
        <p:spPr>
          <a:xfrm>
            <a:off x="4389120" y="1737360"/>
            <a:ext cx="3383280"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4285F4"/>
                </a:solidFill>
              </a:defRPr>
            </a:pPr>
            <a:r>
              <a:t>🚀 Technical Roadmap (Phase 3)</a:t>
            </a:r>
          </a:p>
          <a:p>
            <a:br/>
            <a:r>
              <a:t>• Hydrodynamic Tide Coupling:</a:t>
            </a:r>
          </a:p>
          <a:p>
            <a:pPr>
              <a:defRPr sz="1000">
                <a:solidFill>
                  <a:srgbClr val="4B5563"/>
                </a:solidFill>
              </a:defRPr>
            </a:pPr>
            <a:r>
              <a:t>Couple ADCIRC / SLOSH numerical models with INCOIS real-time coastal tide telemetry.</a:t>
            </a:r>
          </a:p>
          <a:p>
            <a:br/>
            <a:r>
              <a:t>• 1m Drone LiDAR Elevation:</a:t>
            </a:r>
          </a:p>
          <a:p>
            <a:pPr>
              <a:defRPr sz="1000">
                <a:solidFill>
                  <a:srgbClr val="4B5563"/>
                </a:solidFill>
              </a:defRPr>
            </a:pPr>
            <a:r>
              <a:t>Partner with State Remote Sensing Centers for micro-drainage culvert elevation resolution.</a:t>
            </a:r>
          </a:p>
          <a:p>
            <a:br/>
            <a:r>
              <a:t>• Leave-One-Storm-Out Validation:</a:t>
            </a:r>
          </a:p>
          <a:p>
            <a:pPr>
              <a:defRPr sz="1000">
                <a:solidFill>
                  <a:srgbClr val="4B5563"/>
                </a:solidFill>
              </a:defRPr>
            </a:pPr>
            <a:r>
              <a:t>Benchmarking ML models against verified NDRF post-disaster damage logs.</a:t>
            </a:r>
          </a:p>
        </p:txBody>
      </p:sp>
      <p:sp>
        <p:nvSpPr>
          <p:cNvPr id="9" name="Rounded Rectangle 8"/>
          <p:cNvSpPr/>
          <p:nvPr/>
        </p:nvSpPr>
        <p:spPr>
          <a:xfrm>
            <a:off x="8046720" y="1737360"/>
            <a:ext cx="3383280" cy="4663440"/>
          </a:xfrm>
          <a:prstGeom prst="roundRect">
            <a:avLst/>
          </a:prstGeom>
          <a:solidFill>
            <a:srgbClr val="F8FAF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34A853"/>
                </a:solidFill>
              </a:defRPr>
            </a:pPr>
            <a:r>
              <a:t>🏛️ 4-Week SDMA Pilot Plan</a:t>
            </a:r>
          </a:p>
          <a:p>
            <a:br/>
            <a:r>
              <a:t>• Week 1: State GIS Ingestion</a:t>
            </a:r>
          </a:p>
          <a:p>
            <a:pPr>
              <a:defRPr sz="950">
                <a:solidFill>
                  <a:srgbClr val="4B5563"/>
                </a:solidFill>
              </a:defRPr>
            </a:pPr>
            <a:r>
              <a:t>Ingest local clinic coordinates, shelter capacities, and district road shapefiles.</a:t>
            </a:r>
          </a:p>
          <a:p>
            <a:br/>
            <a:r>
              <a:t>• Week 2: IMD Feed Hookup</a:t>
            </a:r>
          </a:p>
          <a:p>
            <a:pPr>
              <a:defRPr sz="950">
                <a:solidFill>
                  <a:srgbClr val="4B5563"/>
                </a:solidFill>
              </a:defRPr>
            </a:pPr>
            <a:r>
              <a:t>Connect live IMD bulletin parser with SEOC duty officer calibration.</a:t>
            </a:r>
          </a:p>
          <a:p>
            <a:br/>
            <a:r>
              <a:t>• Week 3: Alert Channels Integration</a:t>
            </a:r>
          </a:p>
          <a:p>
            <a:pPr>
              <a:defRPr sz="950">
                <a:solidFill>
                  <a:srgbClr val="4B5563"/>
                </a:solidFill>
              </a:defRPr>
            </a:pPr>
            <a:r>
              <a:t>Connect CAP v1.2 XML to Sachet portal and district WhatsApp bots.</a:t>
            </a:r>
          </a:p>
          <a:p>
            <a:br/>
            <a:r>
              <a:t>• Week 4: Tabletop Simulation</a:t>
            </a:r>
          </a:p>
          <a:p>
            <a:pPr>
              <a:defRPr sz="950">
                <a:solidFill>
                  <a:srgbClr val="4B5563"/>
                </a:solidFill>
              </a:defRPr>
            </a:pPr>
            <a:r>
              <a:t>Simulated pre-landfall exercise with DEOCs and NDRF battalions.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2743200" cy="457200"/>
          </a:xfrm>
          <a:prstGeom prst="rect">
            <a:avLst/>
          </a:prstGeom>
          <a:noFill/>
        </p:spPr>
        <p:txBody>
          <a:bodyPr wrap="none">
            <a:spAutoFit/>
          </a:bodyPr>
          <a:lstStyle/>
          <a:p>
            <a:pPr>
              <a:defRPr sz="1600" b="1">
                <a:solidFill>
                  <a:srgbClr val="FFFFFF"/>
                </a:solidFill>
                <a:latin typeface="Arial"/>
              </a:defRPr>
            </a:pPr>
            <a:r>
              <a:t>Google Cloud</a:t>
            </a:r>
          </a:p>
        </p:txBody>
      </p:sp>
      <p:sp>
        <p:nvSpPr>
          <p:cNvPr id="4" name="TextBox 3"/>
          <p:cNvSpPr txBox="1"/>
          <p:nvPr/>
        </p:nvSpPr>
        <p:spPr>
          <a:xfrm>
            <a:off x="4114800" y="228600"/>
            <a:ext cx="3962095" cy="457200"/>
          </a:xfrm>
          <a:prstGeom prst="rect">
            <a:avLst/>
          </a:prstGeom>
          <a:noFill/>
        </p:spPr>
        <p:txBody>
          <a:bodyPr wrap="none">
            <a:spAutoFit/>
          </a:bodyPr>
          <a:lstStyle/>
          <a:p>
            <a:pPr algn="ctr">
              <a:defRPr sz="1700" b="1">
                <a:solidFill>
                  <a:srgbClr val="FFFFFF"/>
                </a:solidFill>
                <a:latin typeface="Arial"/>
              </a:defRPr>
            </a:pPr>
            <a:r>
              <a:t>AI ◆ Builder Cup</a:t>
            </a:r>
          </a:p>
        </p:txBody>
      </p:sp>
      <p:sp>
        <p:nvSpPr>
          <p:cNvPr id="5" name="TextBox 4"/>
          <p:cNvSpPr txBox="1"/>
          <p:nvPr/>
        </p:nvSpPr>
        <p:spPr>
          <a:xfrm>
            <a:off x="8686800" y="228600"/>
            <a:ext cx="2743200" cy="457200"/>
          </a:xfrm>
          <a:prstGeom prst="rect">
            <a:avLst/>
          </a:prstGeom>
          <a:noFill/>
        </p:spPr>
        <p:txBody>
          <a:bodyPr wrap="none">
            <a:spAutoFit/>
          </a:bodyPr>
          <a:lstStyle/>
          <a:p>
            <a:pPr algn="r">
              <a:defRPr sz="1600" b="1">
                <a:solidFill>
                  <a:srgbClr val="FFFFFF"/>
                </a:solidFill>
                <a:latin typeface="Arial"/>
              </a:defRPr>
            </a:pPr>
            <a:r>
              <a:t>H2S</a:t>
            </a:r>
          </a:p>
        </p:txBody>
      </p:sp>
      <p:sp>
        <p:nvSpPr>
          <p:cNvPr id="6" name="TextBox 5"/>
          <p:cNvSpPr txBox="1"/>
          <p:nvPr/>
        </p:nvSpPr>
        <p:spPr>
          <a:xfrm>
            <a:off x="731520" y="1078992"/>
            <a:ext cx="10728655" cy="594360"/>
          </a:xfrm>
          <a:prstGeom prst="rect">
            <a:avLst/>
          </a:prstGeom>
          <a:noFill/>
        </p:spPr>
        <p:txBody>
          <a:bodyPr wrap="square" lIns="0" tIns="0" rIns="0" bIns="0">
            <a:spAutoFit/>
          </a:bodyPr>
          <a:lstStyle/>
          <a:p>
            <a:pPr>
              <a:defRPr sz="2200" b="1">
                <a:solidFill>
                  <a:srgbClr val="111827"/>
                </a:solidFill>
                <a:latin typeface="Arial"/>
              </a:defRPr>
            </a:pPr>
            <a:r>
              <a:t>Provide links to your:</a:t>
            </a:r>
          </a:p>
        </p:txBody>
      </p:sp>
      <p:sp>
        <p:nvSpPr>
          <p:cNvPr id="7" name="Rounded Rectangle 6"/>
          <p:cNvSpPr/>
          <p:nvPr/>
        </p:nvSpPr>
        <p:spPr>
          <a:xfrm>
            <a:off x="731520" y="1737360"/>
            <a:ext cx="10728655" cy="4663440"/>
          </a:xfrm>
          <a:prstGeom prst="roundRect">
            <a:avLst/>
          </a:prstGeom>
          <a:solidFill>
            <a:srgbClr val="F8FAF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wrap="square" lIns="457200" tIns="365760" rtlCol="0" anchor="ctr"/>
          <a:lstStyle/>
          <a:p>
            <a:pPr algn="ctr">
              <a:defRPr sz="1500" b="1">
                <a:solidFill>
                  <a:srgbClr val="4285F4"/>
                </a:solidFill>
              </a:defRPr>
            </a:pPr>
            <a:r>
              <a:t>● GitHub Public Repository</a:t>
            </a:r>
          </a:p>
          <a:p>
            <a:pPr>
              <a:defRPr sz="1300">
                <a:solidFill>
                  <a:srgbClr val="111827"/>
                </a:solidFill>
              </a:defRPr>
            </a:pPr>
            <a:r>
              <a:t>https://github.com/itsme-sherlock/CycloneShield</a:t>
            </a:r>
          </a:p>
          <a:p>
            <a:br/>
            <a:r>
              <a:t>● Demo Video Link (3 Minutes)</a:t>
            </a:r>
          </a:p>
          <a:p>
            <a:pPr>
              <a:defRPr sz="1200">
                <a:solidFill>
                  <a:srgbClr val="111827"/>
                </a:solidFill>
              </a:defRPr>
            </a:pPr>
            <a:r>
              <a:t>https://github.com/itsme-sherlock/CycloneShield/blob/main/CycloneShield_Demo_Walkthrough.mp4</a:t>
            </a:r>
            <a:br/>
            <a:r>
              <a:t>(3m 28s full end-to-end working demonstration with studio narration and live Bengali broadcast)</a:t>
            </a:r>
          </a:p>
          <a:p>
            <a:br/>
            <a:r>
              <a:t>● Final Product Link</a:t>
            </a:r>
          </a:p>
          <a:p>
            <a:pPr>
              <a:defRPr sz="1200">
                <a:solidFill>
                  <a:srgbClr val="34A853"/>
                </a:solidFill>
              </a:defRPr>
            </a:pPr>
            <a:r>
              <a:t>https://cycloneshield-vawrqbhtbgu8i6cafhbf3q.streamlit.app/</a:t>
            </a:r>
            <a:br/>
            <a:r>
              <a:t>(Hosted Interactive Prototype — Works out-of-the-box with zero API keys required)</a:t>
            </a:r>
          </a:p>
          <a:p>
            <a:br/>
            <a:r>
              <a:t>● Interactive Google Colab Notebook (Judge Quick-Run)</a:t>
            </a:r>
          </a:p>
          <a:p>
            <a:pPr>
              <a:defRPr sz="1200">
                <a:solidFill>
                  <a:srgbClr val="4B5563"/>
                </a:solidFill>
              </a:defRPr>
            </a:pPr>
            <a:r>
              <a:t>https://colab.research.google.com/github/itsme-sherlock/CycloneShield/blob/main/CycloneShield_Colab.ipynb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743200" cy="457200"/>
          </a:xfrm>
          <a:prstGeom prst="rect">
            <a:avLst/>
          </a:prstGeom>
          <a:noFill/>
        </p:spPr>
        <p:txBody>
          <a:bodyPr wrap="none">
            <a:spAutoFit/>
          </a:bodyPr>
          <a:lstStyle/>
          <a:p>
            <a:pPr>
              <a:defRPr sz="1600" b="1">
                <a:solidFill>
                  <a:srgbClr val="FFFFFF"/>
                </a:solidFill>
              </a:defRPr>
            </a:pPr>
            <a:r>
              <a:t>Google Cloud</a:t>
            </a:r>
          </a:p>
        </p:txBody>
      </p:sp>
      <p:sp>
        <p:nvSpPr>
          <p:cNvPr id="3" name="TextBox 2"/>
          <p:cNvSpPr txBox="1"/>
          <p:nvPr/>
        </p:nvSpPr>
        <p:spPr>
          <a:xfrm>
            <a:off x="4114800" y="365760"/>
            <a:ext cx="3962095" cy="457200"/>
          </a:xfrm>
          <a:prstGeom prst="rect">
            <a:avLst/>
          </a:prstGeom>
          <a:noFill/>
        </p:spPr>
        <p:txBody>
          <a:bodyPr wrap="none">
            <a:spAutoFit/>
          </a:bodyPr>
          <a:lstStyle/>
          <a:p>
            <a:pPr algn="ctr">
              <a:defRPr sz="1600" b="1">
                <a:solidFill>
                  <a:srgbClr val="FFFFFF"/>
                </a:solidFill>
              </a:defRPr>
            </a:pPr>
            <a:r>
              <a:t>AI ◆ Builder Cup</a:t>
            </a:r>
          </a:p>
        </p:txBody>
      </p:sp>
      <p:sp>
        <p:nvSpPr>
          <p:cNvPr id="4" name="TextBox 3"/>
          <p:cNvSpPr txBox="1"/>
          <p:nvPr/>
        </p:nvSpPr>
        <p:spPr>
          <a:xfrm>
            <a:off x="8686800" y="365760"/>
            <a:ext cx="2743200" cy="457200"/>
          </a:xfrm>
          <a:prstGeom prst="rect">
            <a:avLst/>
          </a:prstGeom>
          <a:noFill/>
        </p:spPr>
        <p:txBody>
          <a:bodyPr wrap="none">
            <a:spAutoFit/>
          </a:bodyPr>
          <a:lstStyle/>
          <a:p>
            <a:pPr algn="r">
              <a:defRPr sz="1600" b="1">
                <a:solidFill>
                  <a:srgbClr val="FFFFFF"/>
                </a:solidFill>
              </a:defRPr>
            </a:pPr>
            <a:r>
              <a:t>H2S</a:t>
            </a:r>
          </a:p>
        </p:txBody>
      </p:sp>
      <p:sp>
        <p:nvSpPr>
          <p:cNvPr id="5" name="TextBox 4"/>
          <p:cNvSpPr txBox="1"/>
          <p:nvPr/>
        </p:nvSpPr>
        <p:spPr>
          <a:xfrm>
            <a:off x="731520" y="2011680"/>
            <a:ext cx="10728655" cy="1371600"/>
          </a:xfrm>
          <a:prstGeom prst="rect">
            <a:avLst/>
          </a:prstGeom>
          <a:noFill/>
        </p:spPr>
        <p:txBody>
          <a:bodyPr wrap="none">
            <a:spAutoFit/>
          </a:bodyPr>
          <a:lstStyle/>
          <a:p>
            <a:pPr algn="ctr">
              <a:defRPr sz="5600" b="1">
                <a:solidFill>
                  <a:srgbClr val="FFFFFF"/>
                </a:solidFill>
              </a:defRPr>
            </a:pPr>
            <a:r>
              <a:t>Thank you</a:t>
            </a:r>
          </a:p>
        </p:txBody>
      </p:sp>
      <p:sp>
        <p:nvSpPr>
          <p:cNvPr id="6" name="TextBox 5"/>
          <p:cNvSpPr txBox="1"/>
          <p:nvPr/>
        </p:nvSpPr>
        <p:spPr>
          <a:xfrm>
            <a:off x="1371600" y="3474720"/>
            <a:ext cx="9448495" cy="2560320"/>
          </a:xfrm>
          <a:prstGeom prst="rect">
            <a:avLst/>
          </a:prstGeom>
          <a:noFill/>
        </p:spPr>
        <p:txBody>
          <a:bodyPr wrap="square">
            <a:spAutoFit/>
          </a:bodyPr>
          <a:lstStyle/>
          <a:p>
            <a:pPr algn="ctr">
              <a:defRPr sz="2600" b="1">
                <a:solidFill>
                  <a:srgbClr val="4285F4"/>
                </a:solidFill>
              </a:defRPr>
            </a:pPr>
            <a:r>
              <a:t>CycloneShield</a:t>
            </a:r>
          </a:p>
          <a:p>
            <a:pPr algn="ctr">
              <a:defRPr sz="1800" b="1">
                <a:solidFill>
                  <a:srgbClr val="FBBC04"/>
                </a:solidFill>
              </a:defRPr>
            </a:pPr>
            <a:r>
              <a:t>Turning Storm Scenarios into Clearer District Priorities</a:t>
            </a:r>
          </a:p>
          <a:p>
            <a:br/>
            <a:r>
              <a:t>Build in JAPAC. Build for the world.</a:t>
            </a:r>
          </a:p>
          <a:p>
            <a:pPr algn="ctr">
              <a:defRPr sz="1300">
                <a:solidFill>
                  <a:srgbClr val="4B5563"/>
                </a:solidFill>
              </a:defRPr>
            </a:pPr>
            <a:r>
              <a:t>Let's partner to protect India's 188M+ coastal citizens from extreme cyclones.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3045</Words>
  <Application>Microsoft Office PowerPoint</Application>
  <PresentationFormat>Widescreen</PresentationFormat>
  <Paragraphs>197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tamil arasan</cp:lastModifiedBy>
  <cp:revision>2</cp:revision>
  <dcterms:created xsi:type="dcterms:W3CDTF">2013-01-27T09:14:16Z</dcterms:created>
  <dcterms:modified xsi:type="dcterms:W3CDTF">2026-10-18T14:41:50Z</dcterms:modified>
  <cp:category/>
</cp:coreProperties>
</file>