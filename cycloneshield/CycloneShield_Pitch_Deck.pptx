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judges. When a tropical cyclone forms in the Bay of Bengal, meteorologists can track where it is headed. However, district authorities still face a critical blind spot: which state highways will submerge, and which hospitals will lose power? CycloneShield bridges this last-mile gap by converting raw storm forecasts into specific, lifeline-level infrastructure risk predictions 48 hours before landfall.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India's coastal districts house over 188 million citizens according to the 2011 Census. When a cyclone develops, the India Meteorological Department provides accurate weather forecasts. However, a District Magistrate or State Disaster Management officer cannot deploy ambulances based solely on wind speed isobars. They need to know if State Highway 3 will be cut off, whether rural clinics will flood, and how to broadcast alerts when cell networks fail. That is the critical last-mile operational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CycloneShield operates as an end-to-end decision pipeline in five automated steps. First, it ingests storm coordinates and central pressure. Second, it models coastal storm surge against 30-meter satellite elevation data. Third, it spatially intersects predicted flood zones with OpenStreetMap lifelines. Fourth, it scores district vulnerability from 0 to 100 with clear explainability. Finally, Google Gemini generates operational field directives and multilingual broadcast alerts.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working prototype executing on Cyclone Remal. In the Bengal delta, CycloneShield evaluated 47 coastal health facilities and flagged 5 at critical inundation risk. It identified exactly 39.6 kilometers of cut-off roadway along the State Highway 3 corridor, and ranked South 24 Parganas as Priority 1 for immediate asset staging. The live application is running online today, proving the end-to-end concept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harness Google AI across three distinct operational layers. Gemini 1.5 Pro synthesizes complex geospatial data into plain-language field directives for emergency managers. Gemini Vision triages post-disaster drone imagery in real-time to detect breached embankments. And our multilingual voice architecture ensures spoken warnings reach vulnerable communities in Bengali and Hindi over battery-powered radios.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life-or-death emergency operations, black-box AI cannot be trusted. Our 0 to 100 vulnerability score is completely transparent. It weights four critical lifelines: healthcare facilities at 35%, road severance at 25%, shelter deficits at 25%, and power substations at 15%. Duty officers see not just a number, but the exact primary driver behind it, allowing them to justify evacuation orders with confidence.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forecast lifeline failures before landfall, we developed Calibrated Gradient Boosting models. On our physically calibrated dataset of 3,600 coastal records, the models achieved strong internal consistency, with ROC-AUCs exceeding 0.97. Crucially, we must be completely honest: these labels are physics-simulated, not historical damage logs. Our immediate next engineering step is leave-one-storm-out cross-validation against verified post-disaster field damage reports.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CycloneShield delivers distinct decisions for three key stakeholders. NDRF rescue battalions pre-stage inflatable boats outside predicted inundation zones. District Magistrates order targeted evacuations and protect vulnerable hospital backup generators 24 hours earlier. And coastal fishing communities receive clear spoken advisories in Bengali and Hindi over battery-powered radios.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CycloneShield is proven today on Cyclone Remal across West Bengal's coastal districts, with full trilingual audio in English, Hindi, and Bengali. Because our architecture uses global satellite elevation and open-source infrastructure grids, scaling to Odisha, Andhra Pradesh, and Gujarat requires configuring state boundary polygons and regional language TTS. Expanding to all thirteen coastal states and integrating direct IMD feeds forms our immediate Phase 2 roadmap.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 not ask disaster authorities to overhaul their existing operations. We propose a practical four-week pilot with a State Disaster Management Authority. In weeks one and two, we ingest state GIS assets and connect bulletin feeds. In weeks three and four, we link Common Alerting Protocol feeds and run a tabletop exercise with NDRF commanders. The prototype runs serverless and incurs minimal compute overhead during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Responsible disaster technology requires total honesty about limitations. Our surge model currently uses a static bathtub method on 30-meter SRTM elevation, and our ML models are trained on simulated physics data. We do not claim real-world damage validation today. Instead, we present a credible roadmap: integrating hydrodynamic tide telemetry and validating models against verified post-disaster field reports in partnership with disaster authorities.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CycloneShield proves that modern AI can transform passive weather bulletins into proactive, life-saving infrastructure intelligence. Our working prototype is live online, fully reproducible via GitHub and Google Colab, and designed specifically for Indian disaster management. We invite the judges to test the live dashboard, and we look forward to collaborating with disaster authorities on our upcoming coastal pilot.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Rounded Rectangle 1"/>
          <p:cNvSpPr/>
          <p:nvPr/>
        </p:nvSpPr>
        <p:spPr>
          <a:xfrm>
            <a:off x="731520" y="914400"/>
            <a:ext cx="4114800" cy="411480"/>
          </a:xfrm>
          <a:prstGeom prst="roundRect">
            <a:avLst/>
          </a:prstGeom>
          <a:solidFill>
            <a:srgbClr val="1A243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defRPr>
            </a:pPr>
            <a:r>
              <a:t>GOOGLE AI HACKATHON • DISASTER RESILIENCE</a:t>
            </a:r>
          </a:p>
        </p:txBody>
      </p:sp>
      <p:sp>
        <p:nvSpPr>
          <p:cNvPr id="3" name="TextBox 2"/>
          <p:cNvSpPr txBox="1"/>
          <p:nvPr/>
        </p:nvSpPr>
        <p:spPr>
          <a:xfrm>
            <a:off x="731520" y="1554480"/>
            <a:ext cx="10698480" cy="2011680"/>
          </a:xfrm>
          <a:prstGeom prst="rect">
            <a:avLst/>
          </a:prstGeom>
          <a:noFill/>
        </p:spPr>
        <p:txBody>
          <a:bodyPr wrap="square">
            <a:spAutoFit/>
          </a:bodyPr>
          <a:lstStyle/>
          <a:p>
            <a:pPr>
              <a:defRPr sz="4400" b="1">
                <a:solidFill>
                  <a:srgbClr val="F8FAFC"/>
                </a:solidFill>
                <a:latin typeface="Arial"/>
              </a:defRPr>
            </a:pPr>
            <a:r>
              <a:t>CycloneShield</a:t>
            </a:r>
          </a:p>
          <a:p>
            <a:pPr>
              <a:defRPr sz="2000" b="1">
                <a:solidFill>
                  <a:srgbClr val="38BDF8"/>
                </a:solidFill>
                <a:latin typeface="Arial"/>
              </a:defRPr>
            </a:pPr>
            <a:r>
              <a:t>Predicting Cut-Off Evacuation Roads &amp; Flooded Lifelines 48 Hours Before Landfall</a:t>
            </a:r>
          </a:p>
          <a:p>
            <a:pPr>
              <a:defRPr sz="1400">
                <a:solidFill>
                  <a:srgbClr val="94A3B8"/>
                </a:solidFill>
                <a:latin typeface="Arial"/>
              </a:defRPr>
            </a:pPr>
            <a:r>
              <a:t>A district-level operational decision layer that converts cyclone tracks into specific infrastructure intelligence.</a:t>
            </a:r>
          </a:p>
        </p:txBody>
      </p:sp>
      <p:sp>
        <p:nvSpPr>
          <p:cNvPr id="4" name="Rounded Rectangle 3"/>
          <p:cNvSpPr/>
          <p:nvPr/>
        </p:nvSpPr>
        <p:spPr>
          <a:xfrm>
            <a:off x="731520" y="3931920"/>
            <a:ext cx="3291840" cy="210312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38BDF8"/>
                </a:solidFill>
              </a:defRPr>
            </a:pPr>
            <a:r>
              <a:t>🌐 LIVE WORKING DEMO</a:t>
            </a:r>
          </a:p>
          <a:p>
            <a:pPr>
              <a:defRPr sz="1100">
                <a:solidFill>
                  <a:srgbClr val="F8FAFC"/>
                </a:solidFill>
              </a:defRPr>
            </a:pPr>
            <a:r>
              <a:t>cycloneshield-vawrqbhtbgu8i6cafhbf3q.streamlit.app</a:t>
            </a:r>
          </a:p>
          <a:p>
            <a:pPr>
              <a:defRPr sz="1000">
                <a:solidFill>
                  <a:srgbClr val="94A3B8"/>
                </a:solidFill>
              </a:defRPr>
            </a:pPr>
            <a:r>
              <a:t>Interactive Command Center with full spatial hazard and district ranking.</a:t>
            </a:r>
          </a:p>
        </p:txBody>
      </p:sp>
      <p:sp>
        <p:nvSpPr>
          <p:cNvPr id="5" name="Rounded Rectangle 4"/>
          <p:cNvSpPr/>
          <p:nvPr/>
        </p:nvSpPr>
        <p:spPr>
          <a:xfrm>
            <a:off x="4297680" y="3931920"/>
            <a:ext cx="3291840" cy="2103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38BDF8"/>
                </a:solidFill>
              </a:defRPr>
            </a:pPr>
            <a:r>
              <a:t>📂 OPEN REPOSITORY</a:t>
            </a:r>
          </a:p>
          <a:p>
            <a:pPr>
              <a:defRPr sz="1100">
                <a:solidFill>
                  <a:srgbClr val="F8FAFC"/>
                </a:solidFill>
              </a:defRPr>
            </a:pPr>
            <a:r>
              <a:t>github.com/itsme-sherlock/CycloneShield</a:t>
            </a:r>
          </a:p>
          <a:p>
            <a:pPr>
              <a:defRPr sz="1000">
                <a:solidFill>
                  <a:srgbClr val="94A3B8"/>
                </a:solidFill>
              </a:defRPr>
            </a:pPr>
            <a:r>
              <a:t>Full pipeline code, Jupyter Colab notebook, and reproducible ML benchmarks.</a:t>
            </a:r>
          </a:p>
        </p:txBody>
      </p:sp>
      <p:sp>
        <p:nvSpPr>
          <p:cNvPr id="6" name="Rounded Rectangle 5"/>
          <p:cNvSpPr/>
          <p:nvPr/>
        </p:nvSpPr>
        <p:spPr>
          <a:xfrm>
            <a:off x="7863840" y="3931920"/>
            <a:ext cx="3566160" cy="2103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38BDF8"/>
                </a:solidFill>
              </a:defRPr>
            </a:pPr>
            <a:r>
              <a:t>👥 TEAM &amp; EVENT</a:t>
            </a:r>
          </a:p>
          <a:p>
            <a:pPr>
              <a:defRPr sz="1100">
                <a:solidFill>
                  <a:srgbClr val="F8FAFC"/>
                </a:solidFill>
              </a:defRPr>
            </a:pPr>
            <a:r>
              <a:t>Team: [TEAM NAME: TO VERIFY]</a:t>
            </a:r>
          </a:p>
          <a:p>
            <a:pPr>
              <a:defRPr sz="1000">
                <a:solidFill>
                  <a:srgbClr val="94A3B8"/>
                </a:solidFill>
              </a:defRPr>
            </a:pPr>
            <a:r>
              <a:t>Members: [TEAM MEMBERS: TO VERIFY]</a:t>
            </a:r>
            <a:br/>
            <a:r>
              <a:t>Event: [HACKATHON NAME: TO VERIFY]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THE PROBLEM: THE LAST-MILE OPERATIONAL GAP</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Weather forecasts track the storm, but field teams still lack road and hospital impact data.</a:t>
            </a:r>
          </a:p>
        </p:txBody>
      </p:sp>
      <p:sp>
        <p:nvSpPr>
          <p:cNvPr id="4" name="Rounded Rectangle 3"/>
          <p:cNvSpPr/>
          <p:nvPr/>
        </p:nvSpPr>
        <p:spPr>
          <a:xfrm>
            <a:off x="731520" y="1645920"/>
            <a:ext cx="33832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97316"/>
                </a:solidFill>
              </a:defRPr>
            </a:pPr>
            <a:r>
              <a:t>🌊 Coastal Scale &amp; Risk</a:t>
            </a:r>
          </a:p>
          <a:p>
            <a:br/>
            <a:pPr>
              <a:defRPr sz="1250">
                <a:solidFill>
                  <a:srgbClr val="F8FAFC"/>
                </a:solidFill>
              </a:defRPr>
            </a:pPr>
            <a:r>
              <a:t>• 188M+ coastal citizens live across India's coastal districts (Census 2011).</a:t>
            </a:r>
          </a:p>
          <a:p>
            <a:br/>
            <a:pPr>
              <a:defRPr sz="1250">
                <a:solidFill>
                  <a:srgbClr val="F8FAFC"/>
                </a:solidFill>
              </a:defRPr>
            </a:pPr>
            <a:r>
              <a:t>• ~250M people reside within 50 km of the coast (UNDP/NDMA Studies).</a:t>
            </a:r>
          </a:p>
          <a:p>
            <a:br/>
            <a:pPr>
              <a:defRPr sz="1200">
                <a:solidFill>
                  <a:srgbClr val="94A3B8"/>
                </a:solidFill>
              </a:defRPr>
            </a:pPr>
            <a:r>
              <a:t>• The Bay of Bengal historically accounts for severe surge mortality due to shallow coastal deltas.</a:t>
            </a:r>
          </a:p>
        </p:txBody>
      </p:sp>
      <p:sp>
        <p:nvSpPr>
          <p:cNvPr id="5" name="Rounded Rectangle 4"/>
          <p:cNvSpPr/>
          <p:nvPr/>
        </p:nvSpPr>
        <p:spPr>
          <a:xfrm>
            <a:off x="4389120" y="1645920"/>
            <a:ext cx="33832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EF4444"/>
                </a:solidFill>
              </a:defRPr>
            </a:pPr>
            <a:r>
              <a:t>📡 The Information Disconnect</a:t>
            </a:r>
          </a:p>
          <a:p>
            <a:br/>
            <a:pPr>
              <a:defRPr sz="1250">
                <a:solidFill>
                  <a:srgbClr val="F8FAFC"/>
                </a:solidFill>
              </a:defRPr>
            </a:pPr>
            <a:r>
              <a:t>• Synoptic warnings provide wind speeds and isobar tracks, not road cut-offs.</a:t>
            </a:r>
          </a:p>
          <a:p>
            <a:br/>
            <a:pPr>
              <a:defRPr sz="1250">
                <a:solidFill>
                  <a:srgbClr val="F8FAFC"/>
                </a:solidFill>
              </a:defRPr>
            </a:pPr>
            <a:r>
              <a:t>• Compound hazards—surge plus pluvial rain—are computed in separate silos.</a:t>
            </a:r>
          </a:p>
          <a:p>
            <a:br/>
            <a:pPr>
              <a:defRPr sz="1200">
                <a:solidFill>
                  <a:srgbClr val="94A3B8"/>
                </a:solidFill>
              </a:defRPr>
            </a:pPr>
            <a:r>
              <a:t>• Text bulletins fail to reach fishing hamlets once cell towers lose grid power.</a:t>
            </a:r>
          </a:p>
        </p:txBody>
      </p:sp>
      <p:sp>
        <p:nvSpPr>
          <p:cNvPr id="6" name="Rounded Rectangle 5"/>
          <p:cNvSpPr/>
          <p:nvPr/>
        </p:nvSpPr>
        <p:spPr>
          <a:xfrm>
            <a:off x="8046720" y="1645920"/>
            <a:ext cx="33832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8BDF8"/>
                </a:solidFill>
              </a:defRPr>
            </a:pPr>
            <a:r>
              <a:t>🚨 The Field Responder's Dilemma</a:t>
            </a:r>
          </a:p>
          <a:p>
            <a:br/>
            <a:pPr>
              <a:defRPr sz="1250">
                <a:solidFill>
                  <a:srgbClr val="F8FAFC"/>
                </a:solidFill>
              </a:defRPr>
            </a:pPr>
            <a:r>
              <a:t>• District Magistrate (DM) / SDMA Duty Officer must stage rescue boats blindly.</a:t>
            </a:r>
          </a:p>
          <a:p>
            <a:br/>
            <a:pPr>
              <a:defRPr sz="1250">
                <a:solidFill>
                  <a:srgbClr val="F8FAFC"/>
                </a:solidFill>
              </a:defRPr>
            </a:pPr>
            <a:r>
              <a:t>• Critical questions unanswered: Will State Highway 3 remain passable for ambulances?</a:t>
            </a:r>
          </a:p>
          <a:p>
            <a:br/>
            <a:pPr>
              <a:defRPr sz="1200">
                <a:solidFill>
                  <a:srgbClr val="94A3B8"/>
                </a:solidFill>
              </a:defRPr>
            </a:pPr>
            <a:r>
              <a:t>• Which primary health centers will lose basement power before landfall?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THE SOLUTION: END-TO-END DECISION PIPELINE</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CycloneShield converts raw track forecasts into field directives through five automated steps.</a:t>
            </a:r>
          </a:p>
        </p:txBody>
      </p:sp>
      <p:sp>
        <p:nvSpPr>
          <p:cNvPr id="4" name="Rounded Rectangle 3"/>
          <p:cNvSpPr/>
          <p:nvPr/>
        </p:nvSpPr>
        <p:spPr>
          <a:xfrm>
            <a:off x="731520"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1. Ingest Track</a:t>
            </a:r>
          </a:p>
          <a:p>
            <a:pPr>
              <a:defRPr sz="950" b="1">
                <a:solidFill>
                  <a:srgbClr val="10B981"/>
                </a:solidFill>
              </a:defRPr>
            </a:pPr>
            <a:r>
              <a:t>[Real data]</a:t>
            </a:r>
            <a:br/>
          </a:p>
          <a:p>
            <a:pPr>
              <a:defRPr sz="1100">
                <a:solidFill>
                  <a:srgbClr val="F8FAFC"/>
                </a:solidFill>
              </a:defRPr>
            </a:pPr>
            <a:r>
              <a:t>NOAA IBTrACS live ingest (IMD-compatible format planned).</a:t>
            </a:r>
            <a:br/>
            <a:r>
              <a:t>Wind, pressure, position.</a:t>
            </a:r>
          </a:p>
        </p:txBody>
      </p:sp>
      <p:sp>
        <p:nvSpPr>
          <p:cNvPr id="5" name="Rounded Rectangle 4"/>
          <p:cNvSpPr/>
          <p:nvPr/>
        </p:nvSpPr>
        <p:spPr>
          <a:xfrm>
            <a:off x="2926080"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2. Compute Hazards</a:t>
            </a:r>
          </a:p>
          <a:p>
            <a:pPr>
              <a:defRPr sz="950" b="1">
                <a:solidFill>
                  <a:srgbClr val="10B981"/>
                </a:solidFill>
              </a:defRPr>
            </a:pPr>
            <a:r>
              <a:t>[Real data]</a:t>
            </a:r>
            <a:br/>
          </a:p>
          <a:p>
            <a:pPr>
              <a:defRPr sz="1100">
                <a:solidFill>
                  <a:srgbClr val="F8FAFC"/>
                </a:solidFill>
              </a:defRPr>
            </a:pPr>
            <a:r>
              <a:t>Hydrodynamic surge formula + 30m SRTM satellite elevation.</a:t>
            </a:r>
            <a:br/>
            <a:r>
              <a:t>Coastal bathtub flood zone.</a:t>
            </a:r>
          </a:p>
        </p:txBody>
      </p:sp>
      <p:sp>
        <p:nvSpPr>
          <p:cNvPr id="6" name="Rounded Rectangle 5"/>
          <p:cNvSpPr/>
          <p:nvPr/>
        </p:nvSpPr>
        <p:spPr>
          <a:xfrm>
            <a:off x="5120640"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3. Intersect Lifelines</a:t>
            </a:r>
          </a:p>
          <a:p>
            <a:pPr>
              <a:defRPr sz="950" b="1">
                <a:solidFill>
                  <a:srgbClr val="10B981"/>
                </a:solidFill>
              </a:defRPr>
            </a:pPr>
            <a:r>
              <a:t>[Real data]</a:t>
            </a:r>
            <a:br/>
          </a:p>
          <a:p>
            <a:pPr>
              <a:defRPr sz="1100">
                <a:solidFill>
                  <a:srgbClr val="F8FAFC"/>
                </a:solidFill>
              </a:defRPr>
            </a:pPr>
            <a:r>
              <a:t>Spatial overlay against OpenStreetMap:</a:t>
            </a:r>
            <a:br/>
            <a:r>
              <a:t>State highways, hospitals, and relief shelters.</a:t>
            </a:r>
          </a:p>
        </p:txBody>
      </p:sp>
      <p:sp>
        <p:nvSpPr>
          <p:cNvPr id="7" name="Rounded Rectangle 6"/>
          <p:cNvSpPr/>
          <p:nvPr/>
        </p:nvSpPr>
        <p:spPr>
          <a:xfrm>
            <a:off x="7315199"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4. Explainable Scoring</a:t>
            </a:r>
          </a:p>
          <a:p>
            <a:pPr>
              <a:defRPr sz="950" b="1">
                <a:solidFill>
                  <a:srgbClr val="F97316"/>
                </a:solidFill>
              </a:defRPr>
            </a:pPr>
            <a:r>
              <a:t>[Simulated risk]</a:t>
            </a:r>
            <a:br/>
          </a:p>
          <a:p>
            <a:pPr>
              <a:defRPr sz="1100">
                <a:solidFill>
                  <a:srgbClr val="F8FAFC"/>
                </a:solidFill>
              </a:defRPr>
            </a:pPr>
            <a:r>
              <a:t>Transparent 0–100 district vulnerability score.</a:t>
            </a:r>
            <a:br/>
            <a:r>
              <a:t>Identifies primary local risk drivers.</a:t>
            </a:r>
          </a:p>
        </p:txBody>
      </p:sp>
      <p:sp>
        <p:nvSpPr>
          <p:cNvPr id="8" name="Rounded Rectangle 7"/>
          <p:cNvSpPr/>
          <p:nvPr/>
        </p:nvSpPr>
        <p:spPr>
          <a:xfrm>
            <a:off x="9509760"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5. Google AI Action</a:t>
            </a:r>
          </a:p>
          <a:p>
            <a:pPr>
              <a:defRPr sz="950" b="1">
                <a:solidFill>
                  <a:srgbClr val="38BDF8"/>
                </a:solidFill>
              </a:defRPr>
            </a:pPr>
            <a:r>
              <a:t>[Live / Cached]</a:t>
            </a:r>
            <a:br/>
          </a:p>
          <a:p>
            <a:pPr>
              <a:defRPr sz="1100">
                <a:solidFill>
                  <a:srgbClr val="F8FAFC"/>
                </a:solidFill>
              </a:defRPr>
            </a:pPr>
            <a:r>
              <a:t>Gemini operational advisories &amp; trilingual broadcast audio.</a:t>
            </a:r>
            <a:br/>
            <a:r>
              <a:t>English, Hindi, and Bengali.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LIVE WORKING PROTOTYPE: CYCLONE REMAL SCENARIO</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Tested end-to-end on Cyclone Remal across the Bengal delta in the live deployed app.</a:t>
            </a:r>
          </a:p>
        </p:txBody>
      </p:sp>
      <p:sp>
        <p:nvSpPr>
          <p:cNvPr id="4" name="Rounded Rectangle 3"/>
          <p:cNvSpPr/>
          <p:nvPr/>
        </p:nvSpPr>
        <p:spPr>
          <a:xfrm>
            <a:off x="731520" y="1645920"/>
            <a:ext cx="438912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38BDF8"/>
                </a:solidFill>
              </a:defRPr>
            </a:pPr>
            <a:r>
              <a:t>🎯 Operational Highlights (Remal Scenario)</a:t>
            </a:r>
          </a:p>
          <a:p>
            <a:br/>
            <a:pPr>
              <a:defRPr sz="1150">
                <a:solidFill>
                  <a:srgbClr val="F8FAFC"/>
                </a:solidFill>
              </a:defRPr>
            </a:pPr>
            <a:r>
              <a:t>• 39.6 km Exposed Highways: Pinpointed critical submersion along State Highway 3 [Real OSM data].</a:t>
            </a:r>
          </a:p>
          <a:p>
            <a:br/>
            <a:pPr>
              <a:defRPr sz="1150">
                <a:solidFill>
                  <a:srgbClr val="F8FAFC"/>
                </a:solidFill>
              </a:defRPr>
            </a:pPr>
            <a:r>
              <a:t>• 5 Clinics at Risk: Flagged 5 high-risk health facilities out of 47 evaluated along the coastal belt [Simulated risk].</a:t>
            </a:r>
          </a:p>
          <a:p>
            <a:br/>
            <a:pPr>
              <a:defRPr sz="1150">
                <a:solidFill>
                  <a:srgbClr val="F8FAFC"/>
                </a:solidFill>
              </a:defRPr>
            </a:pPr>
            <a:r>
              <a:t>• South 24 Parganas Ranked #1: Priority 1 evacuation tier (Vulnerability: 82.4/100; Population: ~8.16M, Census 2011).</a:t>
            </a:r>
          </a:p>
          <a:p>
            <a:br/>
            <a:pPr>
              <a:defRPr sz="1100">
                <a:solidFill>
                  <a:srgbClr val="94A3B8"/>
                </a:solidFill>
              </a:defRPr>
            </a:pPr>
            <a:r>
              <a:t>• Rapid Execution: Full spatial hazard mapping and scoring executes in seconds.</a:t>
            </a:r>
          </a:p>
        </p:txBody>
      </p:sp>
      <p:pic>
        <p:nvPicPr>
          <p:cNvPr id="5" name="Picture 4" descr="01_spatial_hazard_core.png"/>
          <p:cNvPicPr>
            <a:picLocks noChangeAspect="1"/>
          </p:cNvPicPr>
          <p:nvPr/>
        </p:nvPicPr>
        <p:blipFill>
          <a:blip r:embed="rId2"/>
          <a:stretch>
            <a:fillRect/>
          </a:stretch>
        </p:blipFill>
        <p:spPr>
          <a:xfrm>
            <a:off x="5394960" y="1645920"/>
            <a:ext cx="603504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GOOGLE AI AT WORK: MULTIMODAL INTELLIGENCE</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Google AI bridges raw data into plain-language directives and aerial damage triage.</a:t>
            </a:r>
          </a:p>
        </p:txBody>
      </p:sp>
      <p:sp>
        <p:nvSpPr>
          <p:cNvPr id="4" name="Rounded Rectangle 3"/>
          <p:cNvSpPr/>
          <p:nvPr/>
        </p:nvSpPr>
        <p:spPr>
          <a:xfrm>
            <a:off x="731520" y="1645920"/>
            <a:ext cx="47548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38BDF8"/>
                </a:solidFill>
              </a:defRPr>
            </a:pPr>
            <a:r>
              <a:t>🤖 Three Google AI Integrations</a:t>
            </a:r>
          </a:p>
          <a:p>
            <a:br/>
            <a:pPr>
              <a:defRPr sz="1150">
                <a:solidFill>
                  <a:srgbClr val="F8FAFC"/>
                </a:solidFill>
              </a:defRPr>
            </a:pPr>
            <a:r>
              <a:t>1. Gemini 1.5 Pro Advisories [Live]: Generates district-specific resource staging recommendations for SDRF and medical officers.</a:t>
            </a:r>
          </a:p>
          <a:p>
            <a:br/>
            <a:pPr>
              <a:defRPr sz="1150">
                <a:solidFill>
                  <a:srgbClr val="F8FAFC"/>
                </a:solidFill>
              </a:defRPr>
            </a:pPr>
            <a:r>
              <a:t>2. Gemini Multimodal Vision [Live Prototype]: Triages post-landfall drone photos to detect breached embankments and flooded roadways.</a:t>
            </a:r>
          </a:p>
          <a:p>
            <a:br/>
            <a:pPr>
              <a:defRPr sz="1150">
                <a:solidFill>
                  <a:srgbClr val="F8FAFC"/>
                </a:solidFill>
              </a:defRPr>
            </a:pPr>
            <a:r>
              <a:t>3. Multilingual Speech [30 Cached Clips]: Google Cloud TTS &amp; gTTS pipeline delivers spoken radio alerts in Bengali, Hindi, &amp; English.</a:t>
            </a:r>
          </a:p>
          <a:p>
            <a:br/>
            <a:pPr>
              <a:defRPr sz="1100">
                <a:solidFill>
                  <a:srgbClr val="F97316"/>
                </a:solidFill>
              </a:defRPr>
            </a:pPr>
            <a:r>
              <a:t>Without AI: Responders face raw coordinate tables, English-only text PDFs, and manual photo inspection bottlenecks.</a:t>
            </a:r>
          </a:p>
        </p:txBody>
      </p:sp>
      <p:pic>
        <p:nvPicPr>
          <p:cNvPr id="5" name="Picture 4" descr="02_ground_damage_triage.png"/>
          <p:cNvPicPr>
            <a:picLocks noChangeAspect="1"/>
          </p:cNvPicPr>
          <p:nvPr/>
        </p:nvPicPr>
        <p:blipFill>
          <a:blip r:embed="rId2"/>
          <a:stretch>
            <a:fillRect/>
          </a:stretch>
        </p:blipFill>
        <p:spPr>
          <a:xfrm>
            <a:off x="5760720" y="1645920"/>
            <a:ext cx="5669280" cy="43891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EXPLAINABLE RISK SCORING: BUILT FOR FIELD TRUST</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A transparent 0–100 composite score that tells duty officers exactly why a district is at risk.</a:t>
            </a:r>
          </a:p>
        </p:txBody>
      </p:sp>
      <p:sp>
        <p:nvSpPr>
          <p:cNvPr id="4" name="Rounded Rectangle 3"/>
          <p:cNvSpPr/>
          <p:nvPr/>
        </p:nvSpPr>
        <p:spPr>
          <a:xfrm>
            <a:off x="731520" y="1645920"/>
            <a:ext cx="5120640" cy="16459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EF4444"/>
                </a:solidFill>
              </a:defRPr>
            </a:pPr>
            <a:r>
              <a:t>🏥 Healthcare Vulnerability (35%)</a:t>
            </a:r>
          </a:p>
          <a:p>
            <a:pPr>
              <a:defRPr sz="1150">
                <a:solidFill>
                  <a:srgbClr val="F8FAFC"/>
                </a:solidFill>
              </a:defRPr>
            </a:pPr>
            <a:r>
              <a:t>Flooded hospitals, primary health centers (PHCs), and loss of backup generator power.</a:t>
            </a:r>
          </a:p>
        </p:txBody>
      </p:sp>
      <p:sp>
        <p:nvSpPr>
          <p:cNvPr id="5" name="Rounded Rectangle 4"/>
          <p:cNvSpPr/>
          <p:nvPr/>
        </p:nvSpPr>
        <p:spPr>
          <a:xfrm>
            <a:off x="6126480" y="1645920"/>
            <a:ext cx="5120640" cy="16459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97316"/>
                </a:solidFill>
              </a:defRPr>
            </a:pPr>
            <a:r>
              <a:t>🛣️ Road Cut-Off Risk (25%)</a:t>
            </a:r>
          </a:p>
          <a:p>
            <a:pPr>
              <a:defRPr sz="1150">
                <a:solidFill>
                  <a:srgbClr val="F8FAFC"/>
                </a:solidFill>
              </a:defRPr>
            </a:pPr>
            <a:r>
              <a:t>Submerged arterial routes (e.g. SH-3) blocking ambulance and evacuation convoys.</a:t>
            </a:r>
          </a:p>
        </p:txBody>
      </p:sp>
      <p:sp>
        <p:nvSpPr>
          <p:cNvPr id="6" name="Rounded Rectangle 5"/>
          <p:cNvSpPr/>
          <p:nvPr/>
        </p:nvSpPr>
        <p:spPr>
          <a:xfrm>
            <a:off x="731520" y="3566160"/>
            <a:ext cx="5120640" cy="16459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 Shelter Deficit Risk (25%)</a:t>
            </a:r>
          </a:p>
          <a:p>
            <a:pPr>
              <a:defRPr sz="1150">
                <a:solidFill>
                  <a:srgbClr val="F8FAFC"/>
                </a:solidFill>
              </a:defRPr>
            </a:pPr>
            <a:r>
              <a:t>Severe cyclone shelter capacity shortfall relative to vulnerable coastal population.</a:t>
            </a:r>
          </a:p>
        </p:txBody>
      </p:sp>
      <p:sp>
        <p:nvSpPr>
          <p:cNvPr id="7" name="Rounded Rectangle 6"/>
          <p:cNvSpPr/>
          <p:nvPr/>
        </p:nvSpPr>
        <p:spPr>
          <a:xfrm>
            <a:off x="6126480" y="3566160"/>
            <a:ext cx="5120640" cy="16459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10B981"/>
                </a:solidFill>
              </a:defRPr>
            </a:pPr>
            <a:r>
              <a:t>⚡ Power Grid Fragility (15%)</a:t>
            </a:r>
          </a:p>
          <a:p>
            <a:pPr>
              <a:defRPr sz="1150">
                <a:solidFill>
                  <a:srgbClr val="F8FAFC"/>
                </a:solidFill>
              </a:defRPr>
            </a:pPr>
            <a:r>
              <a:t>Inundated electrical substations and high-wind feeder line failure exposure.</a:t>
            </a:r>
          </a:p>
        </p:txBody>
      </p:sp>
      <p:sp>
        <p:nvSpPr>
          <p:cNvPr id="8" name="Rounded Rectangle 7"/>
          <p:cNvSpPr/>
          <p:nvPr/>
        </p:nvSpPr>
        <p:spPr>
          <a:xfrm>
            <a:off x="731520" y="5486400"/>
            <a:ext cx="10698480" cy="77724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50">
                <a:solidFill>
                  <a:srgbClr val="38BDF8"/>
                </a:solidFill>
              </a:defRPr>
            </a:pPr>
            <a:r>
              <a:t>🔍 Audit-Ready Transparency: Composite Score = [Base Lifelines] × [Hazard Multiplier]</a:t>
            </a:r>
          </a:p>
          <a:p>
            <a:pPr>
              <a:defRPr sz="1050">
                <a:solidFill>
                  <a:srgbClr val="94A3B8"/>
                </a:solidFill>
              </a:defRPr>
            </a:pPr>
            <a:r>
              <a:t>Every district score decomposes into a plain-language explanation, eliminating black-box distrust during emergency evacuations.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PREDICTIVE ML &amp; VALIDATION: HONEST METHODOLOGY</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Calibrated Gradient Boosting predicts lifeline failure risks ahead of landfall.</a:t>
            </a:r>
          </a:p>
        </p:txBody>
      </p:sp>
      <p:sp>
        <p:nvSpPr>
          <p:cNvPr id="4" name="Rounded Rectangle 3"/>
          <p:cNvSpPr/>
          <p:nvPr/>
        </p:nvSpPr>
        <p:spPr>
          <a:xfrm>
            <a:off x="731520" y="1645920"/>
            <a:ext cx="493776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38BDF8"/>
                </a:solidFill>
              </a:defRPr>
            </a:pPr>
            <a:r>
              <a:t>📊 Model Architecture &amp; Results</a:t>
            </a:r>
          </a:p>
          <a:p>
            <a:br/>
            <a:pPr>
              <a:defRPr sz="1100">
                <a:solidFill>
                  <a:srgbClr val="F8FAFC"/>
                </a:solidFill>
              </a:defRPr>
            </a:pPr>
            <a:r>
              <a:t>• Targets: Highway Submersion Cut-Off Risk &amp; Hospital Inundation Risk.</a:t>
            </a:r>
          </a:p>
          <a:p>
            <a:br/>
            <a:pPr>
              <a:defRPr sz="1100">
                <a:solidFill>
                  <a:srgbClr val="F8FAFC"/>
                </a:solidFill>
              </a:defRPr>
            </a:pPr>
            <a:r>
              <a:t>• Internal Consistency Metrics [Simulated Dataset, n=3,600]:</a:t>
            </a:r>
            <a:br/>
            <a:r>
              <a:t>  - Highway Cut-Off: ROC-AUC 0.9739 | PR-AUC 0.9042 | Brier 0.0497</a:t>
            </a:r>
            <a:br/>
            <a:r>
              <a:t>  - Hospital Inundation: ROC-AUC 0.9758 | PR-AUC 0.8877 | Brier 0.0457</a:t>
            </a:r>
          </a:p>
          <a:p>
            <a:br/>
            <a:pPr>
              <a:defRPr sz="1050">
                <a:solidFill>
                  <a:srgbClr val="94A3B8"/>
                </a:solidFill>
              </a:defRPr>
            </a:pPr>
            <a:r>
              <a:t>• Methodology: Stratified random 80/20 train/test split. Pre-split scaling and Platt probability calibration.</a:t>
            </a:r>
          </a:p>
          <a:p>
            <a:br/>
            <a:pPr>
              <a:defRPr sz="1100" b="1">
                <a:solidFill>
                  <a:srgbClr val="F97316"/>
                </a:solidFill>
              </a:defRPr>
            </a:pPr>
            <a:r>
              <a:t>• Next Validation Steps: Leave-one-storm-out cross-validation and empirical benchmarking against observed NDRF post-disaster damage logs.</a:t>
            </a:r>
          </a:p>
        </p:txBody>
      </p:sp>
      <p:pic>
        <p:nvPicPr>
          <p:cNvPr id="5" name="Picture 4" descr="lifeline_model_evaluation.png"/>
          <p:cNvPicPr>
            <a:picLocks noChangeAspect="1"/>
          </p:cNvPicPr>
          <p:nvPr/>
        </p:nvPicPr>
        <p:blipFill>
          <a:blip r:embed="rId2"/>
          <a:stretch>
            <a:fillRect/>
          </a:stretch>
        </p:blipFill>
        <p:spPr>
          <a:xfrm>
            <a:off x="5943600" y="1645920"/>
            <a:ext cx="5486400" cy="43891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WHO IT SERVES: ACTIONABLE DECISIONS BY PERSONA</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Delivering the exact operational decision each disaster responder needs to make differently.</a:t>
            </a:r>
          </a:p>
        </p:txBody>
      </p:sp>
      <p:sp>
        <p:nvSpPr>
          <p:cNvPr id="4" name="Rounded Rectangle 3"/>
          <p:cNvSpPr/>
          <p:nvPr/>
        </p:nvSpPr>
        <p:spPr>
          <a:xfrm>
            <a:off x="731520" y="1645920"/>
            <a:ext cx="33832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97316"/>
                </a:solidFill>
              </a:defRPr>
            </a:pPr>
            <a:r>
              <a:t>🚒 NDRF / SDRF Battalions</a:t>
            </a:r>
          </a:p>
          <a:p>
            <a:pPr>
              <a:defRPr sz="1100" b="1">
                <a:solidFill>
                  <a:srgbClr val="F8FAFC"/>
                </a:solidFill>
              </a:defRPr>
            </a:pPr>
            <a:r>
              <a:t>Pre-stage Rescue Assets Ahead of Time</a:t>
            </a:r>
            <a:br/>
          </a:p>
          <a:p>
            <a:pPr>
              <a:defRPr sz="1100">
                <a:solidFill>
                  <a:srgbClr val="94A3B8"/>
                </a:solidFill>
              </a:defRPr>
            </a:pPr>
            <a:r>
              <a:t>• Stages inflatable rescue boats and tree-clearing saws along unflooded bypass routes.</a:t>
            </a:r>
            <a:br/>
            <a:r>
              <a:t>• Avoids deploying heavy convoys into doomed bottlenecks on State Highway 3.</a:t>
            </a:r>
            <a:br/>
            <a:r>
              <a:t>• Decision impact: Zero stranded rescue vehicles; faster post-landfall access.</a:t>
            </a:r>
          </a:p>
        </p:txBody>
      </p:sp>
      <p:sp>
        <p:nvSpPr>
          <p:cNvPr id="5" name="Rounded Rectangle 4"/>
          <p:cNvSpPr/>
          <p:nvPr/>
        </p:nvSpPr>
        <p:spPr>
          <a:xfrm>
            <a:off x="4389120" y="1645920"/>
            <a:ext cx="33832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38BDF8"/>
                </a:solidFill>
              </a:defRPr>
            </a:pPr>
            <a:r>
              <a:t>🏛️ District Magistrates &amp; SDMA</a:t>
            </a:r>
          </a:p>
          <a:p>
            <a:pPr>
              <a:defRPr sz="1100" b="1">
                <a:solidFill>
                  <a:srgbClr val="F8FAFC"/>
                </a:solidFill>
              </a:defRPr>
            </a:pPr>
            <a:r>
              <a:t>Targeted Evacuation &amp; Medical Protection</a:t>
            </a:r>
            <a:br/>
          </a:p>
          <a:p>
            <a:pPr>
              <a:defRPr sz="1100">
                <a:solidFill>
                  <a:srgbClr val="94A3B8"/>
                </a:solidFill>
              </a:defRPr>
            </a:pPr>
            <a:r>
              <a:t>• Orders prioritized village evacuations in South 24 Parganas 24 hours earlier.</a:t>
            </a:r>
            <a:br/>
            <a:r>
              <a:t>• Protects rural PHC backup generators and moves ICUs to elevated structures.</a:t>
            </a:r>
            <a:br/>
            <a:r>
              <a:t>• Decision impact: Proactive resource allocation instead of reactive triage.</a:t>
            </a:r>
          </a:p>
        </p:txBody>
      </p:sp>
      <p:sp>
        <p:nvSpPr>
          <p:cNvPr id="6" name="Rounded Rectangle 5"/>
          <p:cNvSpPr/>
          <p:nvPr/>
        </p:nvSpPr>
        <p:spPr>
          <a:xfrm>
            <a:off x="8046720" y="1645920"/>
            <a:ext cx="33832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0B981"/>
                </a:solidFill>
              </a:defRPr>
            </a:pPr>
            <a:r>
              <a:t>📻 Coastal Delta Communities</a:t>
            </a:r>
          </a:p>
          <a:p>
            <a:pPr>
              <a:defRPr sz="1100" b="1">
                <a:solidFill>
                  <a:srgbClr val="F8FAFC"/>
                </a:solidFill>
              </a:defRPr>
            </a:pPr>
            <a:r>
              <a:t>Life-Saving Warnings in Mother Tongue</a:t>
            </a:r>
            <a:br/>
          </a:p>
          <a:p>
            <a:pPr>
              <a:defRPr sz="1100">
                <a:solidFill>
                  <a:srgbClr val="94A3B8"/>
                </a:solidFill>
              </a:defRPr>
            </a:pPr>
            <a:r>
              <a:t>• Listens to clear, localized voice bulletins in Bengali and Hindi on battery radios.</a:t>
            </a:r>
            <a:br/>
            <a:r>
              <a:t>• Receives specific guidance on which local high-ground cyclone shelters have space.</a:t>
            </a:r>
            <a:br/>
            <a:r>
              <a:t>• Decision impact: Actionable evacuation for non-English, low-literacy citizens.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BUILT FOR INDIA: OPERATIONAL SCOPE VS ROADMAP</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Tested in West Bengal today, architected to scale across all 13 coastal states and UTs.</a:t>
            </a:r>
          </a:p>
        </p:txBody>
      </p:sp>
      <p:sp>
        <p:nvSpPr>
          <p:cNvPr id="4" name="Rounded Rectangle 3"/>
          <p:cNvSpPr/>
          <p:nvPr/>
        </p:nvSpPr>
        <p:spPr>
          <a:xfrm>
            <a:off x="731520" y="1645920"/>
            <a:ext cx="5120640" cy="4389120"/>
          </a:xfrm>
          <a:prstGeom prst="roundRect">
            <a:avLst/>
          </a:prstGeom>
          <a:solidFill>
            <a:srgbClr val="1A2438"/>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0B981"/>
                </a:solidFill>
              </a:defRPr>
            </a:pPr>
            <a:r>
              <a:t>✅ OPERATIONAL TODAY (TESTED)</a:t>
            </a:r>
          </a:p>
          <a:p>
            <a:br/>
            <a:pPr>
              <a:defRPr sz="1150">
                <a:solidFill>
                  <a:srgbClr val="F8FAFC"/>
                </a:solidFill>
              </a:defRPr>
            </a:pPr>
            <a:r>
              <a:t>• Active Storm Scenario: Cyclone Remal (May 2024) fully operational end-to-end; Dana &amp; Yaas tracks ingested [Dana/Yaas app UI to verify].</a:t>
            </a:r>
          </a:p>
          <a:p>
            <a:br/>
            <a:pPr>
              <a:defRPr sz="1150">
                <a:solidFill>
                  <a:srgbClr val="F8FAFC"/>
                </a:solidFill>
              </a:defRPr>
            </a:pPr>
            <a:r>
              <a:t>• Operational Geography: West Bengal coastal districts (South 24 Parganas, Purba Medinipur); cross-border Satkhira as regional context.</a:t>
            </a:r>
          </a:p>
          <a:p>
            <a:br/>
            <a:pPr>
              <a:defRPr sz="1150">
                <a:solidFill>
                  <a:srgbClr val="F8FAFC"/>
                </a:solidFill>
              </a:defRPr>
            </a:pPr>
            <a:r>
              <a:t>• Working Languages: English, Hindi, and Bengali (30 cached broadcast audio alert files in repo).</a:t>
            </a:r>
          </a:p>
          <a:p>
            <a:br/>
            <a:pPr>
              <a:defRPr sz="1100">
                <a:solidFill>
                  <a:srgbClr val="94A3B8"/>
                </a:solidFill>
              </a:defRPr>
            </a:pPr>
            <a:r>
              <a:t>• Live Ingestion: NOAA IBTrACS v4 North Indian Ocean dataset.</a:t>
            </a:r>
          </a:p>
        </p:txBody>
      </p:sp>
      <p:sp>
        <p:nvSpPr>
          <p:cNvPr id="5" name="Rounded Rectangle 4"/>
          <p:cNvSpPr/>
          <p:nvPr/>
        </p:nvSpPr>
        <p:spPr>
          <a:xfrm>
            <a:off x="6309360" y="1645920"/>
            <a:ext cx="5120640" cy="438912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38BDF8"/>
                </a:solidFill>
              </a:defRPr>
            </a:pPr>
            <a:r>
              <a:t>🚀 PLANNED PAN-INDIA EXPANSION</a:t>
            </a:r>
          </a:p>
          <a:p>
            <a:br/>
            <a:pPr>
              <a:defRPr sz="1150">
                <a:solidFill>
                  <a:srgbClr val="F8FAFC"/>
                </a:solidFill>
              </a:defRPr>
            </a:pPr>
            <a:r>
              <a:t>• Regional States (Phase 2): Odisha, Andhra Pradesh, Tamil Nadu, Kerala, Maharashtra, and Gujarat.</a:t>
            </a:r>
          </a:p>
          <a:p>
            <a:br/>
            <a:pPr>
              <a:defRPr sz="1150">
                <a:solidFill>
                  <a:srgbClr val="F8FAFC"/>
                </a:solidFill>
              </a:defRPr>
            </a:pPr>
            <a:r>
              <a:t>• Multilingual Extension: Spoken audio in Odia, Telugu, Tamil, Malayalam, and Marathi.</a:t>
            </a:r>
          </a:p>
          <a:p>
            <a:br/>
            <a:pPr>
              <a:defRPr sz="1150">
                <a:solidFill>
                  <a:srgbClr val="F8FAFC"/>
                </a:solidFill>
              </a:defRPr>
            </a:pPr>
            <a:r>
              <a:t>• Official Data Feeds: Direct IMD cyclone bulletin API ingestion (IMD-compatible schema ready).</a:t>
            </a:r>
          </a:p>
          <a:p>
            <a:br/>
            <a:pPr>
              <a:defRPr sz="1100">
                <a:solidFill>
                  <a:srgbClr val="94A3B8"/>
                </a:solidFill>
              </a:defRPr>
            </a:pPr>
            <a:r>
              <a:t>• Core Scalability: Standard GeoPandas geospatial projection (EPSG:3857/4326) covers all 7,516 km of Indian coastline.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DEPLOYABILITY: A 4-WEEK STATE AUTHORITY PILOT</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A non-disruptive pilot plan designed to integrate alongside existing SDMA workflows.</a:t>
            </a:r>
          </a:p>
        </p:txBody>
      </p:sp>
      <p:sp>
        <p:nvSpPr>
          <p:cNvPr id="4" name="Rounded Rectangle 3"/>
          <p:cNvSpPr/>
          <p:nvPr/>
        </p:nvSpPr>
        <p:spPr>
          <a:xfrm>
            <a:off x="731520" y="1645920"/>
            <a:ext cx="2468880" cy="329184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50">
                <a:solidFill>
                  <a:srgbClr val="38BDF8"/>
                </a:solidFill>
              </a:defRPr>
            </a:pPr>
            <a:r>
              <a:t>Week 1: Data Integration</a:t>
            </a:r>
          </a:p>
          <a:p>
            <a:br/>
            <a:pPr>
              <a:defRPr sz="1050">
                <a:solidFill>
                  <a:srgbClr val="F8FAFC"/>
                </a:solidFill>
              </a:defRPr>
            </a:pPr>
            <a:r>
              <a:t>• Ingest state GIS layers: PHC locations, district roads, shelter capacities.</a:t>
            </a:r>
            <a:br/>
            <a:r>
              <a:t>• Configure state-specific boundary polygons.</a:t>
            </a:r>
            <a:br/>
            <a:r>
              <a:t>• Operator: SDMA GIS cell with 1 data engineer.</a:t>
            </a:r>
          </a:p>
        </p:txBody>
      </p:sp>
      <p:sp>
        <p:nvSpPr>
          <p:cNvPr id="5" name="Rounded Rectangle 4"/>
          <p:cNvSpPr/>
          <p:nvPr/>
        </p:nvSpPr>
        <p:spPr>
          <a:xfrm>
            <a:off x="3429000" y="1645920"/>
            <a:ext cx="2468880" cy="329184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50">
                <a:solidFill>
                  <a:srgbClr val="38BDF8"/>
                </a:solidFill>
              </a:defRPr>
            </a:pPr>
            <a:r>
              <a:t>Week 2: IMD Feed Hookup</a:t>
            </a:r>
          </a:p>
          <a:p>
            <a:br/>
            <a:pPr>
              <a:defRPr sz="1050">
                <a:solidFill>
                  <a:srgbClr val="F8FAFC"/>
                </a:solidFill>
              </a:defRPr>
            </a:pPr>
            <a:r>
              <a:t>• Connect IMD bulletin ingestion parser.</a:t>
            </a:r>
            <a:br/>
            <a:r>
              <a:t>• Validate real-time wind swath contours against IMD warning zones.</a:t>
            </a:r>
            <a:br/>
            <a:r>
              <a:t>• Operator: State Emergency Operations Centre (SEOC).</a:t>
            </a:r>
          </a:p>
        </p:txBody>
      </p:sp>
      <p:sp>
        <p:nvSpPr>
          <p:cNvPr id="6" name="Rounded Rectangle 5"/>
          <p:cNvSpPr/>
          <p:nvPr/>
        </p:nvSpPr>
        <p:spPr>
          <a:xfrm>
            <a:off x="6126480" y="1645920"/>
            <a:ext cx="2468880" cy="329184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50">
                <a:solidFill>
                  <a:srgbClr val="38BDF8"/>
                </a:solidFill>
              </a:defRPr>
            </a:pPr>
            <a:r>
              <a:t>Week 3: Alert Channels</a:t>
            </a:r>
          </a:p>
          <a:p>
            <a:br/>
            <a:pPr>
              <a:defRPr sz="1050">
                <a:solidFill>
                  <a:srgbClr val="F8FAFC"/>
                </a:solidFill>
              </a:defRPr>
            </a:pPr>
            <a:r>
              <a:t>• Connect Common Alerting Protocol (CAP) XML export.</a:t>
            </a:r>
            <a:br/>
            <a:r>
              <a:t>• Setup WhatsApp bot for district duty officers.</a:t>
            </a:r>
            <a:br/>
            <a:r>
              <a:t>• Pre-cache regional audio alerts for community radio.</a:t>
            </a:r>
          </a:p>
        </p:txBody>
      </p:sp>
      <p:sp>
        <p:nvSpPr>
          <p:cNvPr id="7" name="Rounded Rectangle 6"/>
          <p:cNvSpPr/>
          <p:nvPr/>
        </p:nvSpPr>
        <p:spPr>
          <a:xfrm>
            <a:off x="8823960" y="1645920"/>
            <a:ext cx="2468880" cy="329184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50">
                <a:solidFill>
                  <a:srgbClr val="38BDF8"/>
                </a:solidFill>
              </a:defRPr>
            </a:pPr>
            <a:r>
              <a:t>Week 4: Tabletop Exercise</a:t>
            </a:r>
          </a:p>
          <a:p>
            <a:br/>
            <a:pPr>
              <a:defRPr sz="1050">
                <a:solidFill>
                  <a:srgbClr val="F8FAFC"/>
                </a:solidFill>
              </a:defRPr>
            </a:pPr>
            <a:r>
              <a:t>• Simulate historical storm scenario with NDRF/SDRF officers.</a:t>
            </a:r>
            <a:br/>
            <a:r>
              <a:t>• Measure end-to-end dispatch timeline.</a:t>
            </a:r>
            <a:br/>
            <a:r>
              <a:t>• Finalize standard operating procedure (SOP).</a:t>
            </a:r>
          </a:p>
        </p:txBody>
      </p:sp>
      <p:sp>
        <p:nvSpPr>
          <p:cNvPr id="8" name="Rounded Rectangle 7"/>
          <p:cNvSpPr/>
          <p:nvPr/>
        </p:nvSpPr>
        <p:spPr>
          <a:xfrm>
            <a:off x="731520" y="5212080"/>
            <a:ext cx="10698480" cy="100584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F97316"/>
                </a:solidFill>
              </a:defRPr>
            </a:pPr>
            <a:r>
              <a:t>💰 Cost &amp; Licensing Note</a:t>
            </a:r>
          </a:p>
          <a:p>
            <a:pPr>
              <a:defRPr sz="1000">
                <a:solidFill>
                  <a:srgbClr val="94A3B8"/>
                </a:solidFill>
              </a:defRPr>
            </a:pPr>
            <a:r>
              <a:t>• Prototype runs within Google Cloud free-tier quotas during testing.</a:t>
            </a:r>
            <a:br/>
            <a:r>
              <a:t>• Production SDMA deployment utilizes low-cost serverless container hosting (Cloud Run / Vertex AI spec); production Earth Engine requires commercial licensing.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IMPACT, LIMITATIONS, &amp; TECHNICAL ROADMAP</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Credible disaster impact demands absolute transparency about technical boundaries.</a:t>
            </a:r>
          </a:p>
        </p:txBody>
      </p:sp>
      <p:sp>
        <p:nvSpPr>
          <p:cNvPr id="4" name="Rounded Rectangle 3"/>
          <p:cNvSpPr/>
          <p:nvPr/>
        </p:nvSpPr>
        <p:spPr>
          <a:xfrm>
            <a:off x="731520" y="1645920"/>
            <a:ext cx="3383280" cy="4389120"/>
          </a:xfrm>
          <a:prstGeom prst="roundRect">
            <a:avLst/>
          </a:prstGeom>
          <a:solidFill>
            <a:srgbClr val="1A2438"/>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10B981"/>
                </a:solidFill>
              </a:defRPr>
            </a:pPr>
            <a:r>
              <a:t>📈 Quantified Potential Impact</a:t>
            </a:r>
          </a:p>
          <a:p>
            <a:br/>
            <a:pPr>
              <a:defRPr sz="1100">
                <a:solidFill>
                  <a:srgbClr val="F8FAFC"/>
                </a:solidFill>
              </a:defRPr>
            </a:pPr>
            <a:r>
              <a:t>• 2 Priority Districts Covered: South 24 Parganas (~8.16M) &amp; Purba Medinipur (~5.10M) [Census 2011].</a:t>
            </a:r>
          </a:p>
          <a:p>
            <a:br/>
            <a:pPr>
              <a:defRPr sz="1100">
                <a:solidFill>
                  <a:srgbClr val="F8FAFC"/>
                </a:solidFill>
              </a:defRPr>
            </a:pPr>
            <a:r>
              <a:t>• 47 Facilities Evaluated: 5 high-risk health clinics prioritized for backup generator flood protection [Estimate].</a:t>
            </a:r>
          </a:p>
          <a:p>
            <a:br/>
            <a:pPr>
              <a:defRPr sz="1100">
                <a:solidFill>
                  <a:srgbClr val="F8FAFC"/>
                </a:solidFill>
              </a:defRPr>
            </a:pPr>
            <a:r>
              <a:t>• 48h Evacuation Window: Enables advance road clearance and bypass logistics before storm landfall.</a:t>
            </a:r>
          </a:p>
        </p:txBody>
      </p:sp>
      <p:sp>
        <p:nvSpPr>
          <p:cNvPr id="5" name="Rounded Rectangle 4"/>
          <p:cNvSpPr/>
          <p:nvPr/>
        </p:nvSpPr>
        <p:spPr>
          <a:xfrm>
            <a:off x="4389120" y="1645920"/>
            <a:ext cx="3383280" cy="4389120"/>
          </a:xfrm>
          <a:prstGeom prst="roundRect">
            <a:avLst/>
          </a:prstGeom>
          <a:solidFill>
            <a:srgbClr val="1A2438"/>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EF4444"/>
                </a:solidFill>
              </a:defRPr>
            </a:pPr>
            <a:r>
              <a:t>⚠️ Known Technical Limitations</a:t>
            </a:r>
          </a:p>
          <a:p>
            <a:br/>
            <a:pPr>
              <a:defRPr sz="1100">
                <a:solidFill>
                  <a:srgbClr val="F8FAFC"/>
                </a:solidFill>
              </a:defRPr>
            </a:pPr>
            <a:r>
              <a:t>• Bathtub Flood Model: Uses 30m SRTM satellite elevation; does not currently model dynamic hydrodynamic tides.</a:t>
            </a:r>
          </a:p>
          <a:p>
            <a:br/>
            <a:pPr>
              <a:defRPr sz="1100">
                <a:solidFill>
                  <a:srgbClr val="F8FAFC"/>
                </a:solidFill>
              </a:defRPr>
            </a:pPr>
            <a:r>
              <a:t>• Simulated ML Labels: Models trained on rule-based physics synthetic data; not verified against historical damage logs.</a:t>
            </a:r>
          </a:p>
          <a:p>
            <a:br/>
            <a:pPr>
              <a:defRPr sz="1100">
                <a:solidFill>
                  <a:srgbClr val="F8FAFC"/>
                </a:solidFill>
              </a:defRPr>
            </a:pPr>
            <a:r>
              <a:t>• Single Storm Active: Only Cyclone Remal fully tested end-to-end in the live dashboard today.</a:t>
            </a:r>
          </a:p>
        </p:txBody>
      </p:sp>
      <p:sp>
        <p:nvSpPr>
          <p:cNvPr id="6" name="Rounded Rectangle 5"/>
          <p:cNvSpPr/>
          <p:nvPr/>
        </p:nvSpPr>
        <p:spPr>
          <a:xfrm>
            <a:off x="8046720" y="1645920"/>
            <a:ext cx="3383280" cy="438912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38BDF8"/>
                </a:solidFill>
              </a:defRPr>
            </a:pPr>
            <a:r>
              <a:t>🎯 Immediate Next Milestones</a:t>
            </a:r>
          </a:p>
          <a:p>
            <a:br/>
            <a:pPr>
              <a:defRPr sz="1100">
                <a:solidFill>
                  <a:srgbClr val="F8FAFC"/>
                </a:solidFill>
              </a:defRPr>
            </a:pPr>
            <a:r>
              <a:t>• ML Validation: Leave-one-storm-out cross-validation against official post-disaster damage reports.</a:t>
            </a:r>
          </a:p>
          <a:p>
            <a:br/>
            <a:pPr>
              <a:defRPr sz="1100">
                <a:solidFill>
                  <a:srgbClr val="F8FAFC"/>
                </a:solidFill>
              </a:defRPr>
            </a:pPr>
            <a:r>
              <a:t>• Dynamic Surge Modeling: Integrate INCOIS coastal tide gauge telemetry into inundation depth.</a:t>
            </a:r>
          </a:p>
          <a:p>
            <a:br/>
            <a:pPr>
              <a:defRPr sz="1100">
                <a:solidFill>
                  <a:srgbClr val="F8FAFC"/>
                </a:solidFill>
              </a:defRPr>
            </a:pPr>
            <a:r>
              <a:t>• Pan-India Storm Ingestion: Automate parsing for all upcoming North Indian Ocean cyclonic disturbances.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TEAM &amp; CALL TO ACTION: MOVING FROM FORECAST TO ACTION</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200" b="1">
                <a:solidFill>
                  <a:srgbClr val="F8FAFC"/>
                </a:solidFill>
                <a:latin typeface="Arial"/>
              </a:defRPr>
            </a:pPr>
            <a:r>
              <a:t>Partner with us to pilot CycloneShield for India's vulnerable coastal communities.</a:t>
            </a:r>
          </a:p>
        </p:txBody>
      </p:sp>
      <p:sp>
        <p:nvSpPr>
          <p:cNvPr id="4" name="Rounded Rectangle 3"/>
          <p:cNvSpPr/>
          <p:nvPr/>
        </p:nvSpPr>
        <p:spPr>
          <a:xfrm>
            <a:off x="731520" y="1645920"/>
            <a:ext cx="512064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38BDF8"/>
                </a:solidFill>
              </a:defRPr>
            </a:pPr>
            <a:r>
              <a:t>👥 Project Team &amp; Submission</a:t>
            </a:r>
          </a:p>
          <a:p>
            <a:br/>
            <a:pPr>
              <a:defRPr sz="1200">
                <a:solidFill>
                  <a:srgbClr val="F8FAFC"/>
                </a:solidFill>
              </a:defRPr>
            </a:pPr>
            <a:r>
              <a:t>• Team Name: [TEAM NAME: TO VERIFY]</a:t>
            </a:r>
          </a:p>
          <a:p>
            <a:br/>
            <a:pPr>
              <a:defRPr sz="1200">
                <a:solidFill>
                  <a:srgbClr val="F8FAFC"/>
                </a:solidFill>
              </a:defRPr>
            </a:pPr>
            <a:r>
              <a:t>• Team Members: [TEAM MEMBERS: TO VERIFY]</a:t>
            </a:r>
          </a:p>
          <a:p>
            <a:br/>
            <a:pPr>
              <a:defRPr sz="1200">
                <a:solidFill>
                  <a:srgbClr val="F8FAFC"/>
                </a:solidFill>
              </a:defRPr>
            </a:pPr>
            <a:r>
              <a:t>• Hackathon Event: [HACKATHON NAME: TO VERIFY]</a:t>
            </a:r>
          </a:p>
          <a:p>
            <a:br/>
            <a:pPr>
              <a:defRPr sz="1200">
                <a:solidFill>
                  <a:srgbClr val="94A3B8"/>
                </a:solidFill>
              </a:defRPr>
            </a:pPr>
            <a:r>
              <a:t>• Track / Focus: AI for Social Impact &amp; Disaster Resilience</a:t>
            </a:r>
          </a:p>
        </p:txBody>
      </p:sp>
      <p:sp>
        <p:nvSpPr>
          <p:cNvPr id="5" name="Rounded Rectangle 4"/>
          <p:cNvSpPr/>
          <p:nvPr/>
        </p:nvSpPr>
        <p:spPr>
          <a:xfrm>
            <a:off x="6309360" y="1645920"/>
            <a:ext cx="5120640" cy="438912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38BDF8"/>
                </a:solidFill>
              </a:defRPr>
            </a:pPr>
            <a:r>
              <a:t>🔗 Live Artifacts &amp; Evaluation Links</a:t>
            </a:r>
          </a:p>
          <a:p>
            <a:br/>
            <a:pPr>
              <a:defRPr sz="1150">
                <a:solidFill>
                  <a:srgbClr val="F8FAFC"/>
                </a:solidFill>
              </a:defRPr>
            </a:pPr>
            <a:r>
              <a:t>🌐 Live Streamlit Command Center:</a:t>
            </a:r>
            <a:br/>
            <a:r>
              <a:t>cycloneshield-vawrqbhtbgu8i6cafhbf3q.streamlit.app</a:t>
            </a:r>
          </a:p>
          <a:p>
            <a:br/>
            <a:pPr>
              <a:defRPr sz="1150">
                <a:solidFill>
                  <a:srgbClr val="F8FAFC"/>
                </a:solidFill>
              </a:defRPr>
            </a:pPr>
            <a:r>
              <a:t>📂 GitHub Code Repository:</a:t>
            </a:r>
            <a:br/>
            <a:r>
              <a:t>github.com/itsme-sherlock/CycloneShield</a:t>
            </a:r>
          </a:p>
          <a:p>
            <a:br/>
            <a:pPr>
              <a:defRPr sz="1100">
                <a:solidFill>
                  <a:srgbClr val="94A3B8"/>
                </a:solidFill>
              </a:defRPr>
            </a:pPr>
            <a:r>
              <a:t>📓 Interactive Google Colab:</a:t>
            </a:r>
            <a:br/>
            <a:r>
              <a:t>colab.research.google.com/github/itsme-sherlock/CycloneShield/blob/main/CycloneShield_Colab.ipynb</a:t>
            </a:r>
          </a:p>
          <a:p>
            <a:br/>
            <a:pPr>
              <a:defRPr sz="1150" b="1">
                <a:solidFill>
                  <a:srgbClr val="10B981"/>
                </a:solidFill>
              </a:defRPr>
            </a:pPr>
            <a:r>
              <a:t>🤝 Next Step: Ready for state-level SDMA pilot onboarding.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