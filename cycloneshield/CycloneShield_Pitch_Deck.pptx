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judges. Weather agencies track cyclones, and disaster response officers make operational decisions. CycloneShield bridges that critical operational gap. It is an end-to-end decision-support prototype powered by 11 Google Cloud and AI services—including Gemini 2.5 Flash, BigQuery, Cloud Storage, Pub/Sub, Cloud Run, Vertex AI, and Cloud Text-to-Speech—designed to translate raw storm scenarios into clear district lifeline priorities, road cut-off forecasts, and targeted alerts.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India's coastal districts house over 188 million citizens according to the 2011 Census. When a cyclone develops, the India Meteorological Department provides official weather forecasts. However, a District Magistrate or State Disaster Management officer cannot deploy ambulances based solely on wind speed isobars. They need to know whether State Highway 3 will be cut off, which rural clinics may face flooding, and how to reach offline communities in their native language. That is the critical last-mile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structures disaster decision-making into 5 connected stages: First, storm tracks are ingested via Google BigQuery and official IMD bulletins. Second, Google Earth Engine topography powers compound surge and flood hazard screening. Third, our Vertex AI-ready predictive ML model scores road and hospital lifeline failure. Fourth, post-storm damage photos are triaged via Gemini 2.5 Flash and archived in Google Cloud Storage. Fifth, life-safety warnings are dispatched via Google Cloud Pub/Sub and broadcast via Cloud Text-to-Speech in 7 languages.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you see the interactive prototype running Cyclone Remal. The system calculates a 3.56-meter storm surge from barometric pressure, maps the 110 km/h wind swath, and overlays 47 critical facilities. Instead of wading through raw numbers, the District Magistrate immediately sees that South 24 Parganas is at extreme risk (88.4) and State Highway 3 faces a 78% probability of submersion, allowing pre-emptive staging.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leverages a comprehensive suite of 11 Google Cloud services organized across three distinct pillars: Perception &amp; Generative AI uses Gemini 2.5 Flash for multimodal visual damage triage and Cloud Text-to-Speech for voice alerts in 7 Indian languages. Planetary Data &amp; ML utilizes BigQuery for NOAA storm tracks, Google Earth Engine for elevation models, and Vertex AI for model registry readiness. Serverless Cloud &amp; Alerts leverages Cloud Run for autoscaling, Cloud Pub/Sub for attribute-filtered emergency alerts, Cloud Storage for incident evidence, and Secret Manager with Cloud Build for zero-trust security.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disaster management, AI hallucination costs lives. We made a deliberate engineering decision: Gemini 2.5 Flash only evaluates damage type, severity, and needed rescue machinery. It is strictly forbidden from guessing location. Coordinates are determined deterministically from EXIF metadata, browser GPS, or operator district polygon lookup. Each incident is permanently archived in Google Cloud Storage with structured JSON metadata for auditability.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incident is classified as CRITICAL or HIGH, CycloneShield automatically fires an event to Google Cloud Pub/Sub. Because each message contains district metadata, downstream responders like the Puri District Control Room can use subscription filters to receive only alerts for their jurisdiction. The entire command center runs on Google Cloud Run, scaling automatically during landfall traffic surges, while Google Cloud Build and Secret Manager provide a zero-secret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integrates with Google BigQuery to access NOAA's planetary hurricane database, including built-in dry-run queries to prevent unexpected costs. Our calibrated machine learning pipeline predicts arterial highway cut-offs and hospital ICU flooding with an ROC-AUC above 0.975. We've packaged this model with a complete Vertex AI Model Registry manifest and container spec, making it production-ready for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a severe cyclone, cell towers go dark, power lines snap, and text messages fail to reach vulnerable fishing hamlets. CycloneShield implements a voice-first alerting engine powered by Google Cloud Text-to-Speech, delivering lifelike Neural2 broadcasts across 7 Indian languages. With a three-tier fallback architecture—from Cloud TTS to gTTS and pre-rendered emergency broadcasts—the system ensures that life-saving warnings reach citizens even in full blackout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Unlike black-box models, CycloneShield's composite risk score is 100% transparent and explainable. It balances healthcare exposure at 35%, road severed risk at 25%, shelter deficits at 25%, and power grid vulnerability at 15%. In Tab 3 of our app, disaster managers can test 'what-if' scenarios using interactive meteorological sliders to see how an intensifying storm alters lifeline priorities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is built specifically for India, supporting 5 maritime states with automated UTM coordinate projections. We have designed a structured 4-week pilot blueprint for State Disaster Management Authorities: starting with local GIS asset ingestion in Week 1, real-time IMD feed integration in Week 2, multi-channel alerting via CAP XML and WhatsApp in Week 3, and culminating in a full pre-landfall tabletop exercise with NDRF battalions in Week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CycloneShield demonstrates how Google Cloud and AI technologies can solve the hardest last-mile challenges in disaster resilience. We are honest about our current limitations: our surge model uses bathtub elevation screening, and our ML models are trained on simulated physics awaiting field damage calibration. All code, container configs, and Colab notebooks are open and reproducible. We invite you to test our live prototype and partner with us on an SDMA pilot.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Rounded Rectangle 1"/>
          <p:cNvSpPr/>
          <p:nvPr/>
        </p:nvSpPr>
        <p:spPr>
          <a:xfrm>
            <a:off x="731520" y="822960"/>
            <a:ext cx="5303520" cy="411480"/>
          </a:xfrm>
          <a:prstGeom prst="roundRect">
            <a:avLst/>
          </a:prstGeom>
          <a:solidFill>
            <a:srgbClr val="1A243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defRPr>
            </a:pPr>
            <a:r>
              <a:t>GOOGLE AI HACKATHON • DISASTER RESILIENCE &amp; CLOUD AI</a:t>
            </a:r>
          </a:p>
        </p:txBody>
      </p:sp>
      <p:sp>
        <p:nvSpPr>
          <p:cNvPr id="3" name="TextBox 2"/>
          <p:cNvSpPr txBox="1"/>
          <p:nvPr/>
        </p:nvSpPr>
        <p:spPr>
          <a:xfrm>
            <a:off x="731520" y="1463040"/>
            <a:ext cx="10698480" cy="2103120"/>
          </a:xfrm>
          <a:prstGeom prst="rect">
            <a:avLst/>
          </a:prstGeom>
          <a:noFill/>
        </p:spPr>
        <p:txBody>
          <a:bodyPr wrap="square">
            <a:spAutoFit/>
          </a:bodyPr>
          <a:lstStyle/>
          <a:p>
            <a:pPr>
              <a:defRPr sz="4400" b="1">
                <a:solidFill>
                  <a:srgbClr val="F8FAFC"/>
                </a:solidFill>
                <a:latin typeface="Arial"/>
              </a:defRPr>
            </a:pPr>
            <a:r>
              <a:t>CycloneShield</a:t>
            </a:r>
          </a:p>
          <a:p>
            <a:pPr>
              <a:defRPr sz="2000" b="1">
                <a:solidFill>
                  <a:srgbClr val="38BDF8"/>
                </a:solidFill>
                <a:latin typeface="Arial"/>
              </a:defRPr>
            </a:pPr>
            <a:r>
              <a:t>Turning Storm Scenarios into Clearer District Priorities</a:t>
            </a:r>
          </a:p>
          <a:p>
            <a:pPr>
              <a:defRPr sz="1300">
                <a:solidFill>
                  <a:srgbClr val="94A3B8"/>
                </a:solidFill>
                <a:latin typeface="Arial"/>
              </a:defRPr>
            </a:pPr>
            <a:r>
              <a:t>Powered by Google Cloud Run, BigQuery, Gemini 2.5 Flash, Pub/Sub, Cloud Storage, Vertex AI &amp; Cloud TTS.</a:t>
            </a:r>
          </a:p>
        </p:txBody>
      </p:sp>
      <p:sp>
        <p:nvSpPr>
          <p:cNvPr id="4" name="Rounded Rectangle 3"/>
          <p:cNvSpPr/>
          <p:nvPr/>
        </p:nvSpPr>
        <p:spPr>
          <a:xfrm>
            <a:off x="731520" y="3931920"/>
            <a:ext cx="3291840" cy="2103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38BDF8"/>
                </a:solidFill>
              </a:defRPr>
            </a:pPr>
            <a:r>
              <a:t>🌐 LIVE STREAMLIT PROTOTYPE</a:t>
            </a:r>
          </a:p>
          <a:p>
            <a:pPr>
              <a:defRPr sz="1050">
                <a:solidFill>
                  <a:srgbClr val="F8FAFC"/>
                </a:solidFill>
              </a:defRPr>
            </a:pPr>
            <a:r>
              <a:t>cycloneshield-vawrqbhtbgu8i6cafhbf3q.streamlit.app</a:t>
            </a:r>
          </a:p>
          <a:p>
            <a:br/>
            <a:pPr>
              <a:defRPr sz="950">
                <a:solidFill>
                  <a:srgbClr val="94A3B8"/>
                </a:solidFill>
              </a:defRPr>
            </a:pPr>
            <a:r>
              <a:t>Interactive command center: 5 coastal states, 7 Indian languages, and zero-key evaluator fallback.</a:t>
            </a:r>
          </a:p>
        </p:txBody>
      </p:sp>
      <p:sp>
        <p:nvSpPr>
          <p:cNvPr id="5" name="Rounded Rectangle 4"/>
          <p:cNvSpPr/>
          <p:nvPr/>
        </p:nvSpPr>
        <p:spPr>
          <a:xfrm>
            <a:off x="4297680" y="3931920"/>
            <a:ext cx="3291840" cy="2103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38BDF8"/>
                </a:solidFill>
              </a:defRPr>
            </a:pPr>
            <a:r>
              <a:t>📂 OPEN SOURCE REPOSITORY</a:t>
            </a:r>
          </a:p>
          <a:p>
            <a:pPr>
              <a:defRPr sz="1050">
                <a:solidFill>
                  <a:srgbClr val="F8FAFC"/>
                </a:solidFill>
              </a:defRPr>
            </a:pPr>
            <a:r>
              <a:t>github.com/itsme-sherlock/CycloneShield</a:t>
            </a:r>
          </a:p>
          <a:p>
            <a:br/>
            <a:pPr>
              <a:defRPr sz="950">
                <a:solidFill>
                  <a:srgbClr val="94A3B8"/>
                </a:solidFill>
              </a:defRPr>
            </a:pPr>
            <a:r>
              <a:t>Production Dockerfile, Cloud Build CI/CD, Vertex AI manifest, and Apache 2.0 open-source code.</a:t>
            </a:r>
          </a:p>
        </p:txBody>
      </p:sp>
      <p:sp>
        <p:nvSpPr>
          <p:cNvPr id="6" name="Rounded Rectangle 5"/>
          <p:cNvSpPr/>
          <p:nvPr/>
        </p:nvSpPr>
        <p:spPr>
          <a:xfrm>
            <a:off x="7863840" y="3931920"/>
            <a:ext cx="3566160" cy="2103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38BDF8"/>
                </a:solidFill>
              </a:defRPr>
            </a:pPr>
            <a:r>
              <a:t>🚀 REPRODUCIBLE GOOGLE COLAB</a:t>
            </a:r>
          </a:p>
          <a:p>
            <a:pPr>
              <a:defRPr sz="1050">
                <a:solidFill>
                  <a:srgbClr val="F8FAFC"/>
                </a:solidFill>
              </a:defRPr>
            </a:pPr>
            <a:r>
              <a:t>CycloneShield_Colab.ipynb</a:t>
            </a:r>
          </a:p>
          <a:p>
            <a:br/>
            <a:pPr>
              <a:defRPr sz="950">
                <a:solidFill>
                  <a:srgbClr val="94A3B8"/>
                </a:solidFill>
              </a:defRPr>
            </a:pPr>
            <a:r>
              <a:t>1-Click interactive execution of BigQuery queries, ML training, Pub/Sub alerts &amp; GCS evidence vault.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THE PROBLEM: THE LAST-MILE OPERATIONAL GAP</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Weather forecasts track the storm, but field teams still lack road and hospital impact data.</a:t>
            </a:r>
          </a:p>
        </p:txBody>
      </p:sp>
      <p:sp>
        <p:nvSpPr>
          <p:cNvPr id="4" name="Rounded Rectangle 3"/>
          <p:cNvSpPr/>
          <p:nvPr/>
        </p:nvSpPr>
        <p:spPr>
          <a:xfrm>
            <a:off x="7315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97316"/>
                </a:solidFill>
              </a:defRPr>
            </a:pPr>
            <a:r>
              <a:t>🌊 Coastal Scale &amp; Risk</a:t>
            </a:r>
          </a:p>
          <a:p>
            <a:br/>
            <a:pPr>
              <a:defRPr sz="1200">
                <a:solidFill>
                  <a:srgbClr val="F8FAFC"/>
                </a:solidFill>
              </a:defRPr>
            </a:pPr>
            <a:r>
              <a:t>• 188M+ coastal citizens reside across India's maritime districts (Census 2011).</a:t>
            </a:r>
          </a:p>
          <a:p>
            <a:br/>
            <a:pPr>
              <a:defRPr sz="1200">
                <a:solidFill>
                  <a:srgbClr val="F8FAFC"/>
                </a:solidFill>
              </a:defRPr>
            </a:pPr>
            <a:r>
              <a:t>• ~250M people live within 50 km of the sea (UNDP/NDMA Studies).</a:t>
            </a:r>
          </a:p>
          <a:p>
            <a:br/>
            <a:pPr>
              <a:defRPr sz="1150">
                <a:solidFill>
                  <a:srgbClr val="94A3B8"/>
                </a:solidFill>
              </a:defRPr>
            </a:pPr>
            <a:r>
              <a:t>• The Bay of Bengal historically accounts for catastrophic storm surges due to shallow shelf bathymetry.</a:t>
            </a:r>
          </a:p>
        </p:txBody>
      </p:sp>
      <p:sp>
        <p:nvSpPr>
          <p:cNvPr id="5" name="Rounded Rectangle 4"/>
          <p:cNvSpPr/>
          <p:nvPr/>
        </p:nvSpPr>
        <p:spPr>
          <a:xfrm>
            <a:off x="43891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EF4444"/>
                </a:solidFill>
              </a:defRPr>
            </a:pPr>
            <a:r>
              <a:t>📡 The Information Disconnect</a:t>
            </a:r>
          </a:p>
          <a:p>
            <a:br/>
            <a:pPr>
              <a:defRPr sz="1200">
                <a:solidFill>
                  <a:srgbClr val="F8FAFC"/>
                </a:solidFill>
              </a:defRPr>
            </a:pPr>
            <a:r>
              <a:t>• Synoptic bulletins provide wind speeds, isobar charts, and landfall points—not infrastructure impact.</a:t>
            </a:r>
          </a:p>
          <a:p>
            <a:br/>
            <a:pPr>
              <a:defRPr sz="1200">
                <a:solidFill>
                  <a:srgbClr val="F8FAFC"/>
                </a:solidFill>
              </a:defRPr>
            </a:pPr>
            <a:r>
              <a:t>• Compound hazards—surge plus extreme pluvial rainfall—are modeled in isolated silos.</a:t>
            </a:r>
          </a:p>
          <a:p>
            <a:br/>
            <a:pPr>
              <a:defRPr sz="1150">
                <a:solidFill>
                  <a:srgbClr val="94A3B8"/>
                </a:solidFill>
              </a:defRPr>
            </a:pPr>
            <a:r>
              <a:t>• Text bulletins fail to reach vulnerable fishing hamlets once cell towers lose grid power.</a:t>
            </a:r>
          </a:p>
        </p:txBody>
      </p:sp>
      <p:sp>
        <p:nvSpPr>
          <p:cNvPr id="6" name="Rounded Rectangle 5"/>
          <p:cNvSpPr/>
          <p:nvPr/>
        </p:nvSpPr>
        <p:spPr>
          <a:xfrm>
            <a:off x="8046720" y="1645920"/>
            <a:ext cx="33832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The Field Responder's Dilemma</a:t>
            </a:r>
          </a:p>
          <a:p>
            <a:br/>
            <a:pPr>
              <a:defRPr sz="1200">
                <a:solidFill>
                  <a:srgbClr val="F8FAFC"/>
                </a:solidFill>
              </a:defRPr>
            </a:pPr>
            <a:r>
              <a:t>• District Magistrates (DMs) &amp; NDRF commanders must stage rescue convoys without knowing which bridges fail first.</a:t>
            </a:r>
          </a:p>
          <a:p>
            <a:br/>
            <a:pPr>
              <a:defRPr sz="1200">
                <a:solidFill>
                  <a:srgbClr val="F8FAFC"/>
                </a:solidFill>
              </a:defRPr>
            </a:pPr>
            <a:r>
              <a:t>• Critical questions unanswered: Will State Highway 3 submerge? Which rural clinics lose backup power?</a:t>
            </a:r>
          </a:p>
          <a:p>
            <a:br/>
            <a:pPr>
              <a:defRPr sz="1150">
                <a:solidFill>
                  <a:srgbClr val="94A3B8"/>
                </a:solidFill>
              </a:defRPr>
            </a:pPr>
            <a:r>
              <a:t>• How can duty officers issue targeted, voice-based directives in local dialects before landfall?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THE SOLUTION: 5-STAGE DECISION PIPELINE</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An integrated workflow powered by Google services—from planetary data to edge alerting.</a:t>
            </a:r>
          </a:p>
        </p:txBody>
      </p:sp>
      <p:sp>
        <p:nvSpPr>
          <p:cNvPr id="4" name="Rounded Rectangle 3"/>
          <p:cNvSpPr/>
          <p:nvPr/>
        </p:nvSpPr>
        <p:spPr>
          <a:xfrm>
            <a:off x="73152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1. Track Ingestion</a:t>
            </a:r>
          </a:p>
          <a:p>
            <a:pPr>
              <a:defRPr sz="950" b="1">
                <a:solidFill>
                  <a:srgbClr val="10B981"/>
                </a:solidFill>
              </a:defRPr>
            </a:pPr>
            <a:r>
              <a:t>[BigQuery / NOAA]</a:t>
            </a:r>
            <a:br/>
          </a:p>
          <a:p>
            <a:pPr>
              <a:defRPr sz="1100">
                <a:solidFill>
                  <a:srgbClr val="F8FAFC"/>
                </a:solidFill>
              </a:defRPr>
            </a:pPr>
            <a:r>
              <a:t>Google BigQuery NOAA IBTrACS &amp; IMD Bulletin Parser.</a:t>
            </a:r>
            <a:br/>
            <a:r>
              <a:t>Ingest coordinates, central pressure &amp; winds.</a:t>
            </a:r>
          </a:p>
        </p:txBody>
      </p:sp>
      <p:sp>
        <p:nvSpPr>
          <p:cNvPr id="5" name="Rounded Rectangle 4"/>
          <p:cNvSpPr/>
          <p:nvPr/>
        </p:nvSpPr>
        <p:spPr>
          <a:xfrm>
            <a:off x="292608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2. Geospatial Hazard</a:t>
            </a:r>
          </a:p>
          <a:p>
            <a:pPr>
              <a:defRPr sz="950" b="1">
                <a:solidFill>
                  <a:srgbClr val="10B981"/>
                </a:solidFill>
              </a:defRPr>
            </a:pPr>
            <a:r>
              <a:t>[Earth Engine / DEM]</a:t>
            </a:r>
            <a:br/>
          </a:p>
          <a:p>
            <a:pPr>
              <a:defRPr sz="1100">
                <a:solidFill>
                  <a:srgbClr val="F8FAFC"/>
                </a:solidFill>
              </a:defRPr>
            </a:pPr>
            <a:r>
              <a:t>Google Earth Engine SRTM 30m DEM &amp; Bathymetry.</a:t>
            </a:r>
            <a:br/>
            <a:r>
              <a:t>Dynamic inundation &amp; wind swath modeling.</a:t>
            </a:r>
          </a:p>
        </p:txBody>
      </p:sp>
      <p:sp>
        <p:nvSpPr>
          <p:cNvPr id="6" name="Rounded Rectangle 5"/>
          <p:cNvSpPr/>
          <p:nvPr/>
        </p:nvSpPr>
        <p:spPr>
          <a:xfrm>
            <a:off x="512064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3. Lifeline ML</a:t>
            </a:r>
          </a:p>
          <a:p>
            <a:pPr>
              <a:defRPr sz="950" b="1">
                <a:solidFill>
                  <a:srgbClr val="10B981"/>
                </a:solidFill>
              </a:defRPr>
            </a:pPr>
            <a:r>
              <a:t>[Vertex AI / ML]</a:t>
            </a:r>
            <a:br/>
          </a:p>
          <a:p>
            <a:pPr>
              <a:defRPr sz="1100">
                <a:solidFill>
                  <a:srgbClr val="F8FAFC"/>
                </a:solidFill>
              </a:defRPr>
            </a:pPr>
            <a:r>
              <a:t>Vertex AI-Ready Calibrated Gradient Boosting.</a:t>
            </a:r>
            <a:br/>
            <a:r>
              <a:t>Forecasts road cut-offs &amp; hospital flood risks.</a:t>
            </a:r>
          </a:p>
        </p:txBody>
      </p:sp>
      <p:sp>
        <p:nvSpPr>
          <p:cNvPr id="7" name="Rounded Rectangle 6"/>
          <p:cNvSpPr/>
          <p:nvPr/>
        </p:nvSpPr>
        <p:spPr>
          <a:xfrm>
            <a:off x="7315199"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4. Ground Triage</a:t>
            </a:r>
          </a:p>
          <a:p>
            <a:pPr>
              <a:defRPr sz="950" b="1">
                <a:solidFill>
                  <a:srgbClr val="10B981"/>
                </a:solidFill>
              </a:defRPr>
            </a:pPr>
            <a:r>
              <a:t>[Gemini &amp; GCS]</a:t>
            </a:r>
            <a:br/>
          </a:p>
          <a:p>
            <a:pPr>
              <a:defRPr sz="1100">
                <a:solidFill>
                  <a:srgbClr val="F8FAFC"/>
                </a:solidFill>
              </a:defRPr>
            </a:pPr>
            <a:r>
              <a:t>Gemini 2.5 Flash Vision &amp; Cloud Storage Vault.</a:t>
            </a:r>
            <a:br/>
            <a:r>
              <a:t>Damage grading decoupled from location.</a:t>
            </a:r>
          </a:p>
        </p:txBody>
      </p:sp>
      <p:sp>
        <p:nvSpPr>
          <p:cNvPr id="8" name="Rounded Rectangle 7"/>
          <p:cNvSpPr/>
          <p:nvPr/>
        </p:nvSpPr>
        <p:spPr>
          <a:xfrm>
            <a:off x="9509760" y="1645920"/>
            <a:ext cx="205740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5. Actionable Alerts</a:t>
            </a:r>
          </a:p>
          <a:p>
            <a:pPr>
              <a:defRPr sz="950" b="1">
                <a:solidFill>
                  <a:srgbClr val="10B981"/>
                </a:solidFill>
              </a:defRPr>
            </a:pPr>
            <a:r>
              <a:t>[Pub/Sub &amp; TTS]</a:t>
            </a:r>
            <a:br/>
          </a:p>
          <a:p>
            <a:pPr>
              <a:defRPr sz="1100">
                <a:solidFill>
                  <a:srgbClr val="F8FAFC"/>
                </a:solidFill>
              </a:defRPr>
            </a:pPr>
            <a:r>
              <a:t>Google Cloud Pub/Sub &amp; Cloud TTS in 7 Languages.</a:t>
            </a:r>
            <a:br/>
            <a:r>
              <a:t>Targeted district alerts &amp; audio broadcasts.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PREPARED DEMONSTRATION: CYCLONE REMAL SCENARIO</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Configured multi-hazard screening outputs—turning complex data into actionable district priorities.</a:t>
            </a:r>
          </a:p>
        </p:txBody>
      </p:sp>
      <p:sp>
        <p:nvSpPr>
          <p:cNvPr id="4" name="Rounded Rectangle 3"/>
          <p:cNvSpPr/>
          <p:nvPr/>
        </p:nvSpPr>
        <p:spPr>
          <a:xfrm>
            <a:off x="731520" y="1645920"/>
            <a:ext cx="438912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Scenario Highlights (Cyclone Remal)</a:t>
            </a:r>
          </a:p>
          <a:p>
            <a:br/>
            <a:pPr>
              <a:defRPr sz="1150">
                <a:solidFill>
                  <a:srgbClr val="F8FAFC"/>
                </a:solidFill>
              </a:defRPr>
            </a:pPr>
            <a:r>
              <a:t>• Track &amp; Wind Swath: 110 km/h landfall wind envelope modeled across South 24 Parganas and Purba Medinipur.</a:t>
            </a:r>
          </a:p>
          <a:p>
            <a:br/>
            <a:pPr>
              <a:defRPr sz="1150">
                <a:solidFill>
                  <a:srgbClr val="F8FAFC"/>
                </a:solidFill>
              </a:defRPr>
            </a:pPr>
            <a:r>
              <a:t>• Coastal Sea Surge: 3.56m storm surge head calculated from 977 mb central pressure deficit.</a:t>
            </a:r>
          </a:p>
          <a:p>
            <a:br/>
            <a:pPr>
              <a:defRPr sz="1150">
                <a:solidFill>
                  <a:srgbClr val="F8FAFC"/>
                </a:solidFill>
              </a:defRPr>
            </a:pPr>
            <a:r>
              <a:t>• District Prioritization: South 24 Parganas (Risk: 88.4/100, EXTREME) prioritized for 12,000-person evacuation window.</a:t>
            </a:r>
          </a:p>
          <a:p>
            <a:br/>
            <a:pPr>
              <a:defRPr sz="1100">
                <a:solidFill>
                  <a:srgbClr val="94A3B8"/>
                </a:solidFill>
              </a:defRPr>
            </a:pPr>
            <a:r>
              <a:t>• Lifeline Infrastructure: 5 rural primary health centers identified for immediate generator flood protection.</a:t>
            </a:r>
          </a:p>
        </p:txBody>
      </p:sp>
      <p:pic>
        <p:nvPicPr>
          <p:cNvPr id="5" name="Picture 4" descr="01_spatial_hazard_core.png"/>
          <p:cNvPicPr>
            <a:picLocks noChangeAspect="1"/>
          </p:cNvPicPr>
          <p:nvPr/>
        </p:nvPicPr>
        <p:blipFill>
          <a:blip r:embed="rId2"/>
          <a:stretch>
            <a:fillRect/>
          </a:stretch>
        </p:blipFill>
        <p:spPr>
          <a:xfrm>
            <a:off x="5394960" y="1645920"/>
            <a:ext cx="603504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CLOUD &amp; AI ARCHITECTURE: 11 CONNECTED SERVICES</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A resilient, enterprise-grade cloud architecture spanning perception, data, and edge alerting.</a:t>
            </a:r>
          </a:p>
        </p:txBody>
      </p:sp>
      <p:sp>
        <p:nvSpPr>
          <p:cNvPr id="4" name="Rounded Rectangle 3"/>
          <p:cNvSpPr/>
          <p:nvPr/>
        </p:nvSpPr>
        <p:spPr>
          <a:xfrm>
            <a:off x="731520" y="1645920"/>
            <a:ext cx="338328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Perception &amp; GenAI</a:t>
            </a:r>
          </a:p>
          <a:p>
            <a:br/>
            <a:pPr>
              <a:defRPr sz="1150" b="1">
                <a:solidFill>
                  <a:srgbClr val="F8FAFC"/>
                </a:solidFill>
              </a:defRPr>
            </a:pPr>
            <a:r>
              <a:t>• Google Gemini 2.5 Flash:</a:t>
            </a:r>
          </a:p>
          <a:p>
            <a:pPr>
              <a:defRPr sz="1050">
                <a:solidFill>
                  <a:srgbClr val="94A3B8"/>
                </a:solidFill>
              </a:defRPr>
            </a:pPr>
            <a:r>
              <a:t>Multimodal visual triage of ground &amp; drone damage photos. Grades structural severity (1-5) and identifies critical relief needs without hallucinating location.</a:t>
            </a:r>
          </a:p>
          <a:p>
            <a:br/>
            <a:pPr>
              <a:defRPr sz="1150" b="1">
                <a:solidFill>
                  <a:srgbClr val="F8FAFC"/>
                </a:solidFill>
              </a:defRPr>
            </a:pPr>
            <a:r>
              <a:t>• Google Cloud Text-to-Speech:</a:t>
            </a:r>
          </a:p>
          <a:p>
            <a:pPr>
              <a:defRPr sz="1050">
                <a:solidFill>
                  <a:srgbClr val="94A3B8"/>
                </a:solidFill>
              </a:defRPr>
            </a:pPr>
            <a:r>
              <a:t>High-fidelity Neural2 voice synthesis across 7 regional Indian languages (Bengali, Hindi, Odia, Telugu, Tamil, Gujarati, English) for voice-first alerts.</a:t>
            </a:r>
          </a:p>
        </p:txBody>
      </p:sp>
      <p:sp>
        <p:nvSpPr>
          <p:cNvPr id="5" name="Rounded Rectangle 4"/>
          <p:cNvSpPr/>
          <p:nvPr/>
        </p:nvSpPr>
        <p:spPr>
          <a:xfrm>
            <a:off x="4389120" y="1645920"/>
            <a:ext cx="338328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10B981"/>
                </a:solidFill>
              </a:defRPr>
            </a:pPr>
            <a:r>
              <a:t>🌍 Planetary Data &amp; ML</a:t>
            </a:r>
          </a:p>
          <a:p>
            <a:br/>
            <a:pPr>
              <a:defRPr sz="1150" b="1">
                <a:solidFill>
                  <a:srgbClr val="F8FAFC"/>
                </a:solidFill>
              </a:defRPr>
            </a:pPr>
            <a:r>
              <a:t>• Google BigQuery:</a:t>
            </a:r>
          </a:p>
          <a:p>
            <a:pPr>
              <a:defRPr sz="1050">
                <a:solidFill>
                  <a:srgbClr val="94A3B8"/>
                </a:solidFill>
              </a:defRPr>
            </a:pPr>
            <a:r>
              <a:t>Ingests NOAA IBTrACS historical hurricane warehouse (Bay of Bengal &amp; Arabian Sea). Built-in FinOps dry-run cost estimators safeguard cloud budgets.</a:t>
            </a:r>
          </a:p>
          <a:p>
            <a:br/>
            <a:pPr>
              <a:defRPr sz="1150" b="1">
                <a:solidFill>
                  <a:srgbClr val="F8FAFC"/>
                </a:solidFill>
              </a:defRPr>
            </a:pPr>
            <a:r>
              <a:t>• Google Earth Engine (GEE):</a:t>
            </a:r>
          </a:p>
          <a:p>
            <a:pPr>
              <a:defRPr sz="1050">
                <a:solidFill>
                  <a:srgbClr val="94A3B8"/>
                </a:solidFill>
              </a:defRPr>
            </a:pPr>
            <a:r>
              <a:t>Processes NASA SRTM 30m digital elevation models and coastal topography for surge inundation screening.</a:t>
            </a:r>
          </a:p>
          <a:p>
            <a:br/>
            <a:pPr>
              <a:defRPr sz="1150" b="1">
                <a:solidFill>
                  <a:srgbClr val="F8FAFC"/>
                </a:solidFill>
              </a:defRPr>
            </a:pPr>
            <a:r>
              <a:t>• Google Vertex AI (Ready):</a:t>
            </a:r>
          </a:p>
          <a:p>
            <a:pPr>
              <a:defRPr sz="1050">
                <a:solidFill>
                  <a:srgbClr val="94A3B8"/>
                </a:solidFill>
              </a:defRPr>
            </a:pPr>
            <a:r>
              <a:t>Model Registry deployment manifest and custom container serving specifications for lifeline risk forecasting.</a:t>
            </a:r>
          </a:p>
        </p:txBody>
      </p:sp>
      <p:sp>
        <p:nvSpPr>
          <p:cNvPr id="6" name="Rounded Rectangle 5"/>
          <p:cNvSpPr/>
          <p:nvPr/>
        </p:nvSpPr>
        <p:spPr>
          <a:xfrm>
            <a:off x="8046720" y="1645920"/>
            <a:ext cx="3383280" cy="4389120"/>
          </a:xfrm>
          <a:prstGeom prst="roundRect">
            <a:avLst/>
          </a:prstGeom>
          <a:solidFill>
            <a:srgbClr val="1A2438"/>
          </a:solidFill>
          <a:ln w="127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97316"/>
                </a:solidFill>
              </a:defRPr>
            </a:pPr>
            <a:r>
              <a:t>⚡ Serverless &amp; Alerts</a:t>
            </a:r>
          </a:p>
          <a:p>
            <a:br/>
            <a:pPr>
              <a:defRPr sz="1150" b="1">
                <a:solidFill>
                  <a:srgbClr val="F8FAFC"/>
                </a:solidFill>
              </a:defRPr>
            </a:pPr>
            <a:r>
              <a:t>• Google Cloud Run:</a:t>
            </a:r>
          </a:p>
          <a:p>
            <a:pPr>
              <a:defRPr sz="1050">
                <a:solidFill>
                  <a:srgbClr val="94A3B8"/>
                </a:solidFill>
              </a:defRPr>
            </a:pPr>
            <a:r>
              <a:t>Production containerized Streamlit command center on port 8080. Autoscales 0-to-N; native HTTPS enables Web Geolocation API.</a:t>
            </a:r>
          </a:p>
          <a:p>
            <a:br/>
            <a:pPr>
              <a:defRPr sz="1150" b="1">
                <a:solidFill>
                  <a:srgbClr val="F8FAFC"/>
                </a:solidFill>
              </a:defRPr>
            </a:pPr>
            <a:r>
              <a:t>• Google Cloud Pub/Sub:</a:t>
            </a:r>
          </a:p>
          <a:p>
            <a:pPr>
              <a:defRPr sz="1050">
                <a:solidFill>
                  <a:srgbClr val="94A3B8"/>
                </a:solidFill>
              </a:defRPr>
            </a:pPr>
            <a:r>
              <a:t>Event-driven disaster bus dispatching CRITICAL/HIGH alerts with district attribute filtering (e.g. attributes.district = 'Puri').</a:t>
            </a:r>
          </a:p>
          <a:p>
            <a:br/>
            <a:pPr>
              <a:defRPr sz="1150" b="1">
                <a:solidFill>
                  <a:srgbClr val="F8FAFC"/>
                </a:solidFill>
              </a:defRPr>
            </a:pPr>
            <a:r>
              <a:t>• Cloud Storage &amp; Secret Manager:</a:t>
            </a:r>
          </a:p>
          <a:p>
            <a:pPr>
              <a:defRPr sz="1050">
                <a:solidFill>
                  <a:srgbClr val="94A3B8"/>
                </a:solidFill>
              </a:defRPr>
            </a:pPr>
            <a:r>
              <a:t>Tamper-evident incident vault (gs://BUCKET/state/district/) and keyless IAM security with Cloud Build CI/CD.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GEMINI 2.5 FLASH &amp; CLOUD STORAGE: INCIDENT TRIAGE</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Multimodal damage assessment with strict geospatial decoupling and tamper-evident evidence storage.</a:t>
            </a:r>
          </a:p>
        </p:txBody>
      </p:sp>
      <p:sp>
        <p:nvSpPr>
          <p:cNvPr id="4" name="Rounded Rectangle 3"/>
          <p:cNvSpPr/>
          <p:nvPr/>
        </p:nvSpPr>
        <p:spPr>
          <a:xfrm>
            <a:off x="731520" y="1645920"/>
            <a:ext cx="47548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Responsible AI: Decoupled Architecture</a:t>
            </a:r>
          </a:p>
          <a:p>
            <a:br/>
            <a:pPr>
              <a:defRPr sz="1150" b="1">
                <a:solidFill>
                  <a:srgbClr val="F8FAFC"/>
                </a:solidFill>
              </a:defRPr>
            </a:pPr>
            <a:r>
              <a:t>1. Gemini 2.5 Flash Multimodal Vision:</a:t>
            </a:r>
          </a:p>
          <a:p>
            <a:pPr>
              <a:defRPr sz="1050">
                <a:solidFill>
                  <a:srgbClr val="94A3B8"/>
                </a:solidFill>
              </a:defRPr>
            </a:pPr>
            <a:r>
              <a:t>• Evaluates damage type (culvert blowout, fallen trees, embankment breach), severity tier (1-5), and required equipment (earthmovers, dewatering pumps).</a:t>
            </a:r>
          </a:p>
          <a:p>
            <a:br/>
            <a:pPr>
              <a:defRPr sz="1150" b="1">
                <a:solidFill>
                  <a:srgbClr val="F97316"/>
                </a:solidFill>
              </a:defRPr>
            </a:pPr>
            <a:r>
              <a:t>2. Anti-Hallucination Design Decision:</a:t>
            </a:r>
          </a:p>
          <a:p>
            <a:pPr>
              <a:defRPr sz="1050">
                <a:solidFill>
                  <a:srgbClr val="F8FAFC"/>
                </a:solidFill>
              </a:defRPr>
            </a:pPr>
            <a:r>
              <a:t>• Gemini NEVER infers location from imagery. Coordinates come strictly from EXIF GPS, browser HTML5 location, or operator point-in-polygon verification.</a:t>
            </a:r>
          </a:p>
          <a:p>
            <a:br/>
            <a:pPr>
              <a:defRPr sz="1150" b="1">
                <a:solidFill>
                  <a:srgbClr val="10B981"/>
                </a:solidFill>
              </a:defRPr>
            </a:pPr>
            <a:r>
              <a:t>3. Google Cloud Storage Evidence Vault:</a:t>
            </a:r>
          </a:p>
          <a:p>
            <a:pPr>
              <a:defRPr sz="1050">
                <a:solidFill>
                  <a:srgbClr val="94A3B8"/>
                </a:solidFill>
              </a:defRPr>
            </a:pPr>
            <a:r>
              <a:t>• Persists photo and audit JSON to gs://&lt;BUCKET&gt;/&lt;state&gt;/&lt;district&gt;/&lt;incident_id&gt;/. Unverified photos are quarantined under _unverified/.</a:t>
            </a:r>
          </a:p>
        </p:txBody>
      </p:sp>
      <p:pic>
        <p:nvPicPr>
          <p:cNvPr id="5" name="Picture 4" descr="02_ground_damage_triage.png"/>
          <p:cNvPicPr>
            <a:picLocks noChangeAspect="1"/>
          </p:cNvPicPr>
          <p:nvPr/>
        </p:nvPicPr>
        <p:blipFill>
          <a:blip r:embed="rId2"/>
          <a:stretch>
            <a:fillRect/>
          </a:stretch>
        </p:blipFill>
        <p:spPr>
          <a:xfrm>
            <a:off x="5760720" y="1645920"/>
            <a:ext cx="5669280"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CLOUD PUB/SUB &amp; CLOUD RUN: ALERTING &amp; SERVERLESS EDGE</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Low-latency, attribute-filtered disaster alerts and scalable containerized deployment.</a:t>
            </a:r>
          </a:p>
        </p:txBody>
      </p:sp>
      <p:sp>
        <p:nvSpPr>
          <p:cNvPr id="4" name="Rounded Rectangle 3"/>
          <p:cNvSpPr/>
          <p:nvPr/>
        </p:nvSpPr>
        <p:spPr>
          <a:xfrm>
            <a:off x="731520" y="1645920"/>
            <a:ext cx="475488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Real-Time Alert Bus &amp; Container Edge</a:t>
            </a:r>
          </a:p>
          <a:p>
            <a:br/>
            <a:pPr>
              <a:defRPr sz="1150" b="1">
                <a:solidFill>
                  <a:srgbClr val="F8FAFC"/>
                </a:solidFill>
              </a:defRPr>
            </a:pPr>
            <a:r>
              <a:t>1. Google Cloud Pub/Sub Emergency Topic:</a:t>
            </a:r>
          </a:p>
          <a:p>
            <a:pPr>
              <a:defRPr sz="1050">
                <a:solidFill>
                  <a:srgbClr val="94A3B8"/>
                </a:solidFill>
              </a:defRPr>
            </a:pPr>
            <a:r>
              <a:t>• When damage severity is CRITICAL or HIGH, a message is published to 'cyclone-alerts' with attributes: district, state, severity, and GCS URI.</a:t>
            </a:r>
          </a:p>
          <a:p>
            <a:br/>
            <a:pPr>
              <a:defRPr sz="1150" b="1">
                <a:solidFill>
                  <a:srgbClr val="10B981"/>
                </a:solidFill>
              </a:defRPr>
            </a:pPr>
            <a:r>
              <a:t>2. District-Filtered Subscriptions:</a:t>
            </a:r>
          </a:p>
          <a:p>
            <a:pPr>
              <a:defRPr sz="1050">
                <a:solidFill>
                  <a:srgbClr val="F8FAFC"/>
                </a:solidFill>
              </a:defRPr>
            </a:pPr>
            <a:r>
              <a:t>• Local duty officers subscribe with filters like attributes.district = 'Puri', receiving only relevant alerts and preventing alert fatigue.</a:t>
            </a:r>
          </a:p>
          <a:p>
            <a:br/>
            <a:pPr>
              <a:defRPr sz="1150" b="1">
                <a:solidFill>
                  <a:srgbClr val="F97316"/>
                </a:solidFill>
              </a:defRPr>
            </a:pPr>
            <a:r>
              <a:t>3. Google Cloud Run Serverless Deployment:</a:t>
            </a:r>
          </a:p>
          <a:p>
            <a:pPr>
              <a:defRPr sz="1050">
                <a:solidFill>
                  <a:srgbClr val="94A3B8"/>
                </a:solidFill>
              </a:defRPr>
            </a:pPr>
            <a:r>
              <a:t>• Containerized Streamlit on port 8080 (Dockerfile). Autoscales 0-to-N; native HTTPS enables browser device GPS; zero-secret posture via Secret Manager.</a:t>
            </a:r>
          </a:p>
        </p:txBody>
      </p:sp>
      <p:pic>
        <p:nvPicPr>
          <p:cNvPr id="5" name="Picture 4" descr="04_bigquery_cloudrun.png"/>
          <p:cNvPicPr>
            <a:picLocks noChangeAspect="1"/>
          </p:cNvPicPr>
          <p:nvPr/>
        </p:nvPicPr>
        <p:blipFill>
          <a:blip r:embed="rId2"/>
          <a:stretch>
            <a:fillRect/>
          </a:stretch>
        </p:blipFill>
        <p:spPr>
          <a:xfrm>
            <a:off x="5760720" y="1645920"/>
            <a:ext cx="5669280" cy="43891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BIGQUERY &amp; PREDICTIVE ML: VERTEX AI BLUEPRINT</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Planetary historical cyclone data warehouse and calibrated lifeline vulnerability forecasting.</a:t>
            </a:r>
          </a:p>
        </p:txBody>
      </p:sp>
      <p:sp>
        <p:nvSpPr>
          <p:cNvPr id="4" name="Rounded Rectangle 3"/>
          <p:cNvSpPr/>
          <p:nvPr/>
        </p:nvSpPr>
        <p:spPr>
          <a:xfrm>
            <a:off x="731520" y="1645920"/>
            <a:ext cx="4937760" cy="438912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BigQuery Data Engine &amp; Vertex AI ML</a:t>
            </a:r>
          </a:p>
          <a:p>
            <a:br/>
            <a:pPr>
              <a:defRPr sz="1150" b="1">
                <a:solidFill>
                  <a:srgbClr val="F8FAFC"/>
                </a:solidFill>
              </a:defRPr>
            </a:pPr>
            <a:r>
              <a:t>1. Google BigQuery Public NOAA Dataset:</a:t>
            </a:r>
          </a:p>
          <a:p>
            <a:pPr>
              <a:defRPr sz="1050">
                <a:solidFill>
                  <a:srgbClr val="94A3B8"/>
                </a:solidFill>
              </a:defRPr>
            </a:pPr>
            <a:r>
              <a:t>• Connects to bigquery-public-data.noaa_hurricanes.ibtracs_all. Ingests 13 major Bay of Bengal and Arabian Sea cyclones with FinOps dry-run cost control.</a:t>
            </a:r>
          </a:p>
          <a:p>
            <a:br/>
            <a:pPr>
              <a:defRPr sz="1150" b="1">
                <a:solidFill>
                  <a:srgbClr val="10B981"/>
                </a:solidFill>
              </a:defRPr>
            </a:pPr>
            <a:r>
              <a:t>2. Calibrated Predictive Lifeline ML:</a:t>
            </a:r>
          </a:p>
          <a:p>
            <a:pPr>
              <a:defRPr sz="1050">
                <a:solidFill>
                  <a:srgbClr val="F8FAFC"/>
                </a:solidFill>
              </a:defRPr>
            </a:pPr>
            <a:r>
              <a:t>• HistGradientBoosting classifier predicts Highway Submersion Cut-Off Risk and Hospital ICU Inundation (ROC-AUC &gt; 0.975, Brier Score &lt; 0.049).</a:t>
            </a:r>
          </a:p>
          <a:p>
            <a:br/>
            <a:pPr>
              <a:defRPr sz="1150" b="1">
                <a:solidFill>
                  <a:srgbClr val="F97316"/>
                </a:solidFill>
              </a:defRPr>
            </a:pPr>
            <a:r>
              <a:t>3. Vertex AI Model Registry Specification:</a:t>
            </a:r>
          </a:p>
          <a:p>
            <a:pPr>
              <a:defRPr sz="1050">
                <a:solidFill>
                  <a:srgbClr val="94A3B8"/>
                </a:solidFill>
              </a:defRPr>
            </a:pPr>
            <a:r>
              <a:t>• Serialized model artifact (lifeline_risk_model.joblib), serving schema (vertex_model_config.json), and custom container specs ready for managed cloud endpoints.</a:t>
            </a:r>
          </a:p>
        </p:txBody>
      </p:sp>
      <p:pic>
        <p:nvPicPr>
          <p:cNvPr id="5" name="Picture 4" descr="lifeline_model_evaluation.png"/>
          <p:cNvPicPr>
            <a:picLocks noChangeAspect="1"/>
          </p:cNvPicPr>
          <p:nvPr/>
        </p:nvPicPr>
        <p:blipFill>
          <a:blip r:embed="rId2"/>
          <a:stretch>
            <a:fillRect/>
          </a:stretch>
        </p:blipFill>
        <p:spPr>
          <a:xfrm>
            <a:off x="5943600" y="1645920"/>
            <a:ext cx="5486400" cy="43891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GOOGLE CLOUD TEXT-TO-SPEECH: VOICE-FIRST IN 7 LANGUAGES</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Bridging the last-mile digital and literacy divide with high-fidelity Neural2 speech synthesis.</a:t>
            </a:r>
          </a:p>
        </p:txBody>
      </p:sp>
      <p:sp>
        <p:nvSpPr>
          <p:cNvPr id="4" name="Rounded Rectangle 3"/>
          <p:cNvSpPr/>
          <p:nvPr/>
        </p:nvSpPr>
        <p:spPr>
          <a:xfrm>
            <a:off x="731520" y="1645920"/>
            <a:ext cx="338328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7 Regional Indian Languages</a:t>
            </a:r>
          </a:p>
          <a:p>
            <a:br/>
            <a:pPr>
              <a:defRPr sz="1150" b="1">
                <a:solidFill>
                  <a:srgbClr val="F8FAFC"/>
                </a:solidFill>
              </a:defRPr>
            </a:pPr>
            <a:r>
              <a:t>• Native Speech Synthesis:</a:t>
            </a:r>
          </a:p>
          <a:p>
            <a:pPr>
              <a:defRPr sz="1050">
                <a:solidFill>
                  <a:srgbClr val="F8FAFC"/>
                </a:solidFill>
              </a:defRPr>
            </a:pPr>
            <a:r>
              <a:t>• Bengali (bn-IN, Bashkar/Neural2-A)</a:t>
            </a:r>
            <a:br/>
            <a:r>
              <a:t>• Hindi (hi-IN, Swara/Neural2-D)</a:t>
            </a:r>
            <a:br/>
            <a:r>
              <a:t>• Odia (or-IN, Cloud TTS)</a:t>
            </a:r>
            <a:br/>
            <a:r>
              <a:t>• Telugu (te-IN, Mohan/Neural2-A)</a:t>
            </a:r>
            <a:br/>
            <a:r>
              <a:t>• Tamil (ta-IN, Pallavi/Neural2-A)</a:t>
            </a:r>
            <a:br/>
            <a:r>
              <a:t>• Gujarati (gu-IN, Dhwani/Neural2-A)</a:t>
            </a:r>
            <a:br/>
            <a:r>
              <a:t>• English (en-IN, Neural2-D)</a:t>
            </a:r>
          </a:p>
          <a:p>
            <a:br/>
            <a:pPr>
              <a:defRPr sz="1000">
                <a:solidFill>
                  <a:srgbClr val="94A3B8"/>
                </a:solidFill>
              </a:defRPr>
            </a:pPr>
            <a:r>
              <a:t>• Top-level language switcher dynamically translates UI alerts and synthesized audio.</a:t>
            </a:r>
          </a:p>
        </p:txBody>
      </p:sp>
      <p:sp>
        <p:nvSpPr>
          <p:cNvPr id="5" name="Rounded Rectangle 4"/>
          <p:cNvSpPr/>
          <p:nvPr/>
        </p:nvSpPr>
        <p:spPr>
          <a:xfrm>
            <a:off x="4389120" y="1645920"/>
            <a:ext cx="338328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10B981"/>
                </a:solidFill>
              </a:defRPr>
            </a:pPr>
            <a:r>
              <a:t>⚡ 3-Tier Synthesis Resilience</a:t>
            </a:r>
          </a:p>
          <a:p>
            <a:br/>
            <a:pPr>
              <a:defRPr sz="1150" b="1">
                <a:solidFill>
                  <a:srgbClr val="F8FAFC"/>
                </a:solidFill>
              </a:defRPr>
            </a:pPr>
            <a:r>
              <a:t>• Tier 1: Google Cloud TTS</a:t>
            </a:r>
          </a:p>
          <a:p>
            <a:pPr>
              <a:defRPr sz="1050">
                <a:solidFill>
                  <a:srgbClr val="94A3B8"/>
                </a:solidFill>
              </a:defRPr>
            </a:pPr>
            <a:r>
              <a:t>High-definition Neural2 natural speech with customized rate and pitch for megaphone audio.</a:t>
            </a:r>
          </a:p>
          <a:p>
            <a:br/>
            <a:pPr>
              <a:defRPr sz="1150" b="1">
                <a:solidFill>
                  <a:srgbClr val="F8FAFC"/>
                </a:solidFill>
              </a:defRPr>
            </a:pPr>
            <a:r>
              <a:t>• Tier 2: gTTS Free Fallback</a:t>
            </a:r>
          </a:p>
          <a:p>
            <a:pPr>
              <a:defRPr sz="1050">
                <a:solidFill>
                  <a:srgbClr val="94A3B8"/>
                </a:solidFill>
              </a:defRPr>
            </a:pPr>
            <a:r>
              <a:t>Graceful zero-cost fallback when API quotas or internet connectivity are constrained.</a:t>
            </a:r>
          </a:p>
          <a:p>
            <a:br/>
            <a:pPr>
              <a:defRPr sz="1150" b="1">
                <a:solidFill>
                  <a:srgbClr val="F8FAFC"/>
                </a:solidFill>
              </a:defRPr>
            </a:pPr>
            <a:r>
              <a:t>• Tier 3: Pre-Rendered Audio</a:t>
            </a:r>
          </a:p>
          <a:p>
            <a:pPr>
              <a:defRPr sz="1050">
                <a:solidFill>
                  <a:srgbClr val="94A3B8"/>
                </a:solidFill>
              </a:defRPr>
            </a:pPr>
            <a:r>
              <a:t>30 pre-rendered studio warning bulletins with emergency siren chimes ready for offline playback.</a:t>
            </a:r>
          </a:p>
        </p:txBody>
      </p:sp>
      <p:sp>
        <p:nvSpPr>
          <p:cNvPr id="6" name="Rounded Rectangle 5"/>
          <p:cNvSpPr/>
          <p:nvPr/>
        </p:nvSpPr>
        <p:spPr>
          <a:xfrm>
            <a:off x="8046720" y="1645920"/>
            <a:ext cx="3383280" cy="4389120"/>
          </a:xfrm>
          <a:prstGeom prst="roundRect">
            <a:avLst/>
          </a:prstGeom>
          <a:solidFill>
            <a:srgbClr val="1A2438"/>
          </a:solidFill>
          <a:ln w="127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97316"/>
                </a:solidFill>
              </a:defRPr>
            </a:pPr>
            <a:r>
              <a:t>📻 Reaching the Last Mile</a:t>
            </a:r>
          </a:p>
          <a:p>
            <a:br/>
            <a:pPr>
              <a:defRPr sz="1150" b="1">
                <a:solidFill>
                  <a:srgbClr val="F8FAFC"/>
                </a:solidFill>
              </a:defRPr>
            </a:pPr>
            <a:r>
              <a:t>• Accessible Disaster Alerting:</a:t>
            </a:r>
          </a:p>
          <a:p>
            <a:pPr>
              <a:defRPr sz="1050">
                <a:solidFill>
                  <a:srgbClr val="94A3B8"/>
                </a:solidFill>
              </a:defRPr>
            </a:pPr>
            <a:r>
              <a:t>SMS text alerts fail illiterate citizens, elderly populations, and families who lose electricity.</a:t>
            </a:r>
          </a:p>
          <a:p>
            <a:br/>
            <a:pPr>
              <a:defRPr sz="1150" b="1">
                <a:solidFill>
                  <a:srgbClr val="F8FAFC"/>
                </a:solidFill>
              </a:defRPr>
            </a:pPr>
            <a:r>
              <a:t>• Direct Community Audio:</a:t>
            </a:r>
          </a:p>
          <a:p>
            <a:pPr>
              <a:defRPr sz="1050">
                <a:solidFill>
                  <a:srgbClr val="F8FAFC"/>
                </a:solidFill>
              </a:defRPr>
            </a:pPr>
            <a:r>
              <a:t>Generates downloadable, broadcast-ready MP3s for local community radio, police loudspeaker vans, and boat siren systems.</a:t>
            </a:r>
          </a:p>
          <a:p>
            <a:br/>
            <a:pPr>
              <a:defRPr sz="1000">
                <a:solidFill>
                  <a:srgbClr val="94A3B8"/>
                </a:solidFill>
              </a:defRPr>
            </a:pPr>
            <a:r>
              <a:t>• 1-Click Playback: Play voice alerts directly in the browser with zero external player required.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EXPLAINABLE RISK SCORING: 4-PILLAR INDEX &amp; WHAT-IF SIMULATOR</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Transparent vulnerability formulation backed by an interactive meteorological simulator.</a:t>
            </a:r>
          </a:p>
        </p:txBody>
      </p:sp>
      <p:sp>
        <p:nvSpPr>
          <p:cNvPr id="4" name="Rounded Rectangle 3"/>
          <p:cNvSpPr/>
          <p:nvPr/>
        </p:nvSpPr>
        <p:spPr>
          <a:xfrm>
            <a:off x="731520" y="1645920"/>
            <a:ext cx="5120640" cy="160020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EF4444"/>
                </a:solidFill>
              </a:defRPr>
            </a:pPr>
            <a:r>
              <a:t>🏥 Healthcare Vulnerability (35%)</a:t>
            </a:r>
          </a:p>
          <a:p>
            <a:pPr>
              <a:defRPr sz="1100">
                <a:solidFill>
                  <a:srgbClr val="F8FAFC"/>
                </a:solidFill>
              </a:defRPr>
            </a:pPr>
            <a:r>
              <a:t>Flooded hospitals, primary health centers (PHCs), ICU generator basements, and oxygen reserves.</a:t>
            </a:r>
          </a:p>
        </p:txBody>
      </p:sp>
      <p:sp>
        <p:nvSpPr>
          <p:cNvPr id="5" name="Rounded Rectangle 4"/>
          <p:cNvSpPr/>
          <p:nvPr/>
        </p:nvSpPr>
        <p:spPr>
          <a:xfrm>
            <a:off x="6126480" y="1645920"/>
            <a:ext cx="5120640" cy="160020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97316"/>
                </a:solidFill>
              </a:defRPr>
            </a:pPr>
            <a:r>
              <a:t>🛣️ Road Cut-Off Risk (25%)</a:t>
            </a:r>
          </a:p>
          <a:p>
            <a:pPr>
              <a:defRPr sz="1100">
                <a:solidFill>
                  <a:srgbClr val="F8FAFC"/>
                </a:solidFill>
              </a:defRPr>
            </a:pPr>
            <a:r>
              <a:t>Submerged arterial routes (e.g. State Highway 3) blocking ambulance convoys and evacuation corridors.</a:t>
            </a:r>
          </a:p>
        </p:txBody>
      </p:sp>
      <p:sp>
        <p:nvSpPr>
          <p:cNvPr id="6" name="Rounded Rectangle 5"/>
          <p:cNvSpPr/>
          <p:nvPr/>
        </p:nvSpPr>
        <p:spPr>
          <a:xfrm>
            <a:off x="731520" y="3429000"/>
            <a:ext cx="5120640" cy="160020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38BDF8"/>
                </a:solidFill>
              </a:defRPr>
            </a:pPr>
            <a:r>
              <a:t>🏕️ Shelter Deficit Risk (25%)</a:t>
            </a:r>
          </a:p>
          <a:p>
            <a:pPr>
              <a:defRPr sz="1100">
                <a:solidFill>
                  <a:srgbClr val="F8FAFC"/>
                </a:solidFill>
              </a:defRPr>
            </a:pPr>
            <a:r>
              <a:t>Severe cyclone shelter capacity shortfall relative to vulnerable coastal population (Census 2011).</a:t>
            </a:r>
          </a:p>
        </p:txBody>
      </p:sp>
      <p:sp>
        <p:nvSpPr>
          <p:cNvPr id="7" name="Rounded Rectangle 6"/>
          <p:cNvSpPr/>
          <p:nvPr/>
        </p:nvSpPr>
        <p:spPr>
          <a:xfrm>
            <a:off x="6126480" y="3429000"/>
            <a:ext cx="5120640" cy="1600200"/>
          </a:xfrm>
          <a:prstGeom prst="roundRect">
            <a:avLst/>
          </a:prstGeom>
          <a:solidFill>
            <a:srgbClr val="1A2438"/>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0B981"/>
                </a:solidFill>
              </a:defRPr>
            </a:pPr>
            <a:r>
              <a:t>⚡ Power Grid Fragility (15%)</a:t>
            </a:r>
          </a:p>
          <a:p>
            <a:pPr>
              <a:defRPr sz="1100">
                <a:solidFill>
                  <a:srgbClr val="F8FAFC"/>
                </a:solidFill>
              </a:defRPr>
            </a:pPr>
            <a:r>
              <a:t>Inundated electrical substations and high-wind transmission feeder failure exposure.</a:t>
            </a:r>
          </a:p>
        </p:txBody>
      </p:sp>
      <p:sp>
        <p:nvSpPr>
          <p:cNvPr id="8" name="Rounded Rectangle 7"/>
          <p:cNvSpPr/>
          <p:nvPr/>
        </p:nvSpPr>
        <p:spPr>
          <a:xfrm>
            <a:off x="731520" y="5303520"/>
            <a:ext cx="10698480" cy="100584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38BDF8"/>
                </a:solidFill>
              </a:defRPr>
            </a:pPr>
            <a:r>
              <a:t>🔍 Dynamic 'What-If' Scenario Simulator (Tab 3):</a:t>
            </a:r>
          </a:p>
          <a:p>
            <a:pPr>
              <a:defRPr sz="1050">
                <a:solidFill>
                  <a:srgbClr val="F8FAFC"/>
                </a:solidFill>
              </a:defRPr>
            </a:pPr>
            <a:r>
              <a:t>Duty officers can adjust live meteorological sliders (central pressure, wind speed, forward velocity, rainfall) to evaluate counterfactual scenarios: 'What if Remal slows down by 5 km/h?' or 'What if central pressure drops 10 mb?'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BUILT FOR INDIA: SCOPE VS 4-WEEK SDMA PILOT PLAN</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Five configured coastal state profiles and a structured 4-week rollout for state disaster authorities.</a:t>
            </a:r>
          </a:p>
        </p:txBody>
      </p:sp>
      <p:sp>
        <p:nvSpPr>
          <p:cNvPr id="4" name="Rounded Rectangle 3"/>
          <p:cNvSpPr/>
          <p:nvPr/>
        </p:nvSpPr>
        <p:spPr>
          <a:xfrm>
            <a:off x="731520" y="1645920"/>
            <a:ext cx="512064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0B981"/>
                </a:solidFill>
              </a:defRPr>
            </a:pPr>
            <a:r>
              <a:t>🇮🇳 PAN-INDIA SCOPE TODAY</a:t>
            </a:r>
          </a:p>
          <a:p>
            <a:br/>
            <a:pPr>
              <a:defRPr sz="1200" b="1">
                <a:solidFill>
                  <a:srgbClr val="F8FAFC"/>
                </a:solidFill>
              </a:defRPr>
            </a:pPr>
            <a:r>
              <a:t>• 5 Configured Maritime State Profiles:</a:t>
            </a:r>
          </a:p>
          <a:p>
            <a:pPr>
              <a:defRPr sz="1100">
                <a:solidFill>
                  <a:srgbClr val="94A3B8"/>
                </a:solidFill>
              </a:defRPr>
            </a:pPr>
            <a:r>
              <a:t>West Bengal, Odisha, Andhra Pradesh, Tamil Nadu, and Gujarat covering 35 coastal districts.</a:t>
            </a:r>
          </a:p>
          <a:p>
            <a:br/>
            <a:pPr>
              <a:defRPr sz="1200" b="1">
                <a:solidFill>
                  <a:srgbClr val="F8FAFC"/>
                </a:solidFill>
              </a:defRPr>
            </a:pPr>
            <a:r>
              <a:t>• Dynamic UTM Coordinate System:</a:t>
            </a:r>
          </a:p>
          <a:p>
            <a:pPr>
              <a:defRPr sz="1100">
                <a:solidFill>
                  <a:srgbClr val="94A3B8"/>
                </a:solidFill>
              </a:defRPr>
            </a:pPr>
            <a:r>
              <a:t>Automatically switches projection zones (EPSG:32642 to EPSG:32645) across all 7,516 km of Indian coastline.</a:t>
            </a:r>
          </a:p>
          <a:p>
            <a:br/>
            <a:pPr>
              <a:defRPr sz="1200" b="1">
                <a:solidFill>
                  <a:srgbClr val="F8FAFC"/>
                </a:solidFill>
              </a:defRPr>
            </a:pPr>
            <a:r>
              <a:t>• Zero-Key Evaluator Guarantee:</a:t>
            </a:r>
          </a:p>
          <a:p>
            <a:pPr>
              <a:defRPr sz="1100">
                <a:solidFill>
                  <a:srgbClr val="94A3B8"/>
                </a:solidFill>
              </a:defRPr>
            </a:pPr>
            <a:r>
              <a:t>Functions seamlessly offline with pre-cached NOAA tracks, synthetic ML models, and audio fallbacks.</a:t>
            </a:r>
          </a:p>
        </p:txBody>
      </p:sp>
      <p:sp>
        <p:nvSpPr>
          <p:cNvPr id="5" name="Rounded Rectangle 4"/>
          <p:cNvSpPr/>
          <p:nvPr/>
        </p:nvSpPr>
        <p:spPr>
          <a:xfrm>
            <a:off x="6309360" y="1645920"/>
            <a:ext cx="512064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38BDF8"/>
                </a:solidFill>
              </a:defRPr>
            </a:pPr>
            <a:r>
              <a:t>🚀 4-WEEK SDMA PILOT BLUEPRINT</a:t>
            </a:r>
          </a:p>
          <a:p>
            <a:br/>
            <a:pPr>
              <a:defRPr sz="1200" b="1">
                <a:solidFill>
                  <a:srgbClr val="F8FAFC"/>
                </a:solidFill>
              </a:defRPr>
            </a:pPr>
            <a:r>
              <a:t>• Week 1: State GIS Asset Onboarding</a:t>
            </a:r>
          </a:p>
          <a:p>
            <a:pPr>
              <a:defRPr sz="1050">
                <a:solidFill>
                  <a:srgbClr val="94A3B8"/>
                </a:solidFill>
              </a:defRPr>
            </a:pPr>
            <a:r>
              <a:t>Ingest local health clinic coordinates, road shapefiles, and shelter capacities into the spatial engine.</a:t>
            </a:r>
          </a:p>
          <a:p>
            <a:br/>
            <a:pPr>
              <a:defRPr sz="1200" b="1">
                <a:solidFill>
                  <a:srgbClr val="F8FAFC"/>
                </a:solidFill>
              </a:defRPr>
            </a:pPr>
            <a:r>
              <a:t>• Week 2: IMD Real-Time Feed Hookup</a:t>
            </a:r>
          </a:p>
          <a:p>
            <a:pPr>
              <a:defRPr sz="1050">
                <a:solidFill>
                  <a:srgbClr val="94A3B8"/>
                </a:solidFill>
              </a:defRPr>
            </a:pPr>
            <a:r>
              <a:t>Connect live IMD RSMC bulletin parser and calibrate local wind swath thresholds with SEOC duty officers.</a:t>
            </a:r>
          </a:p>
          <a:p>
            <a:br/>
            <a:pPr>
              <a:defRPr sz="1200" b="1">
                <a:solidFill>
                  <a:srgbClr val="F8FAFC"/>
                </a:solidFill>
              </a:defRPr>
            </a:pPr>
            <a:r>
              <a:t>• Week 3: CAP Alerting &amp; Voice Bots</a:t>
            </a:r>
          </a:p>
          <a:p>
            <a:pPr>
              <a:defRPr sz="1050">
                <a:solidFill>
                  <a:srgbClr val="94A3B8"/>
                </a:solidFill>
              </a:defRPr>
            </a:pPr>
            <a:r>
              <a:t>Integrate OASIS CAP v1.2 XML with NDMA Sachet portal, WhatsApp alerts, and community radio broadcasts.</a:t>
            </a:r>
          </a:p>
          <a:p>
            <a:br/>
            <a:pPr>
              <a:defRPr sz="1200" b="1">
                <a:solidFill>
                  <a:srgbClr val="F8FAFC"/>
                </a:solidFill>
              </a:defRPr>
            </a:pPr>
            <a:r>
              <a:t>• Week 4: Tabletop Simulation &amp; Review</a:t>
            </a:r>
          </a:p>
          <a:p>
            <a:pPr>
              <a:defRPr sz="1050">
                <a:solidFill>
                  <a:srgbClr val="94A3B8"/>
                </a:solidFill>
              </a:defRPr>
            </a:pPr>
            <a:r>
              <a:t>Execute end-to-end simulated pre-landfall drill with District Emergency Operation Centers (DEOCs) and NDRF.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100" b="1">
                <a:solidFill>
                  <a:srgbClr val="38BDF8"/>
                </a:solidFill>
                <a:latin typeface="Arial"/>
              </a:defRPr>
            </a:pPr>
            <a:r>
              <a:t>IMPACT, RESPONSIBLE AI, &amp; CALL TO ACTION</a:t>
            </a:r>
          </a:p>
        </p:txBody>
      </p:sp>
      <p:sp>
        <p:nvSpPr>
          <p:cNvPr id="3" name="TextBox 2"/>
          <p:cNvSpPr txBox="1"/>
          <p:nvPr/>
        </p:nvSpPr>
        <p:spPr>
          <a:xfrm>
            <a:off x="731520" y="685800"/>
            <a:ext cx="10698480" cy="822960"/>
          </a:xfrm>
          <a:prstGeom prst="rect">
            <a:avLst/>
          </a:prstGeom>
          <a:noFill/>
        </p:spPr>
        <p:txBody>
          <a:bodyPr wrap="square" lIns="0" rIns="0" tIns="0" bIns="0">
            <a:spAutoFit/>
          </a:bodyPr>
          <a:lstStyle/>
          <a:p>
            <a:pPr>
              <a:defRPr sz="2100" b="1">
                <a:solidFill>
                  <a:srgbClr val="F8FAFC"/>
                </a:solidFill>
                <a:latin typeface="Arial"/>
              </a:defRPr>
            </a:pPr>
            <a:r>
              <a:t>Measurable societal resilience grounded in complete technical honesty and cloud excellence.</a:t>
            </a:r>
          </a:p>
        </p:txBody>
      </p:sp>
      <p:sp>
        <p:nvSpPr>
          <p:cNvPr id="4" name="Rounded Rectangle 3"/>
          <p:cNvSpPr/>
          <p:nvPr/>
        </p:nvSpPr>
        <p:spPr>
          <a:xfrm>
            <a:off x="731520" y="1645920"/>
            <a:ext cx="3383280" cy="4389120"/>
          </a:xfrm>
          <a:prstGeom prst="roundRect">
            <a:avLst/>
          </a:prstGeom>
          <a:solidFill>
            <a:srgbClr val="1A2438"/>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10B981"/>
                </a:solidFill>
              </a:defRPr>
            </a:pPr>
            <a:r>
              <a:t>📈 Quantified Potential Impact</a:t>
            </a:r>
          </a:p>
          <a:p>
            <a:br/>
            <a:pPr>
              <a:defRPr sz="1150" b="1">
                <a:solidFill>
                  <a:srgbClr val="F8FAFC"/>
                </a:solidFill>
              </a:defRPr>
            </a:pPr>
            <a:r>
              <a:t>• 188M+ Coastal Citizens:</a:t>
            </a:r>
          </a:p>
          <a:p>
            <a:pPr>
              <a:defRPr sz="1050">
                <a:solidFill>
                  <a:srgbClr val="94A3B8"/>
                </a:solidFill>
              </a:defRPr>
            </a:pPr>
            <a:r>
              <a:t>Decision support framework covering 35 vulnerable coastal districts across 5 maritime states.</a:t>
            </a:r>
          </a:p>
          <a:p>
            <a:br/>
            <a:pPr>
              <a:defRPr sz="1150" b="1">
                <a:solidFill>
                  <a:srgbClr val="F8FAFC"/>
                </a:solidFill>
              </a:defRPr>
            </a:pPr>
            <a:r>
              <a:t>• Pre-Emptive Evacuation Window:</a:t>
            </a:r>
          </a:p>
          <a:p>
            <a:pPr>
              <a:defRPr sz="1050">
                <a:solidFill>
                  <a:srgbClr val="94A3B8"/>
                </a:solidFill>
              </a:defRPr>
            </a:pPr>
            <a:r>
              <a:t>Identifies high-risk submersion corridors 24-48 hours before landfall to stage emergency convoys.</a:t>
            </a:r>
          </a:p>
          <a:p>
            <a:br/>
            <a:pPr>
              <a:defRPr sz="1150" b="1">
                <a:solidFill>
                  <a:srgbClr val="F8FAFC"/>
                </a:solidFill>
              </a:defRPr>
            </a:pPr>
            <a:r>
              <a:t>• Critical Hospital Continuity:</a:t>
            </a:r>
          </a:p>
          <a:p>
            <a:pPr>
              <a:defRPr sz="1050">
                <a:solidFill>
                  <a:srgbClr val="94A3B8"/>
                </a:solidFill>
              </a:defRPr>
            </a:pPr>
            <a:r>
              <a:t>Early alert for backup generator flood barriers protects patient ICUs and oxygen supplies.</a:t>
            </a:r>
          </a:p>
        </p:txBody>
      </p:sp>
      <p:sp>
        <p:nvSpPr>
          <p:cNvPr id="5" name="Rounded Rectangle 4"/>
          <p:cNvSpPr/>
          <p:nvPr/>
        </p:nvSpPr>
        <p:spPr>
          <a:xfrm>
            <a:off x="4389120" y="1645920"/>
            <a:ext cx="3383280" cy="4389120"/>
          </a:xfrm>
          <a:prstGeom prst="roundRect">
            <a:avLst/>
          </a:prstGeom>
          <a:solidFill>
            <a:srgbClr val="1A2438"/>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EF4444"/>
                </a:solidFill>
              </a:defRPr>
            </a:pPr>
            <a:r>
              <a:t>⚠️ Responsible AI Disclosures</a:t>
            </a:r>
          </a:p>
          <a:p>
            <a:br/>
            <a:pPr>
              <a:defRPr sz="1150" b="1">
                <a:solidFill>
                  <a:srgbClr val="F8FAFC"/>
                </a:solidFill>
              </a:defRPr>
            </a:pPr>
            <a:r>
              <a:t>• Bathymetric Surge Model:</a:t>
            </a:r>
          </a:p>
          <a:p>
            <a:pPr>
              <a:defRPr sz="1050">
                <a:solidFill>
                  <a:srgbClr val="94A3B8"/>
                </a:solidFill>
              </a:defRPr>
            </a:pPr>
            <a:r>
              <a:t>Empirical bathtub screening model based on SRTM 30m DEM; does not yet capture dynamic astronomical tidal harmonics.</a:t>
            </a:r>
          </a:p>
          <a:p>
            <a:br/>
            <a:pPr>
              <a:defRPr sz="1150" b="1">
                <a:solidFill>
                  <a:srgbClr val="F8FAFC"/>
                </a:solidFill>
              </a:defRPr>
            </a:pPr>
            <a:r>
              <a:t>• Synthetic Physics ML Training:</a:t>
            </a:r>
          </a:p>
          <a:p>
            <a:pPr>
              <a:defRPr sz="1050">
                <a:solidFill>
                  <a:srgbClr val="94A3B8"/>
                </a:solidFill>
              </a:defRPr>
            </a:pPr>
            <a:r>
              <a:t>Predictive model trained on 3,600 physics-simulated disaster scenarios; real-world NDRF damage log benchmarking is next.</a:t>
            </a:r>
          </a:p>
          <a:p>
            <a:br/>
            <a:pPr>
              <a:defRPr sz="1150" b="1">
                <a:solidFill>
                  <a:srgbClr val="F8FAFC"/>
                </a:solidFill>
              </a:defRPr>
            </a:pPr>
            <a:r>
              <a:t>• Human-in-the-Loop Safeguard:</a:t>
            </a:r>
          </a:p>
          <a:p>
            <a:pPr>
              <a:defRPr sz="1050">
                <a:solidFill>
                  <a:srgbClr val="94A3B8"/>
                </a:solidFill>
              </a:defRPr>
            </a:pPr>
            <a:r>
              <a:t>All AI-generated advisories and triage results require authorized human officer verification before public alert dispatch.</a:t>
            </a:r>
          </a:p>
        </p:txBody>
      </p:sp>
      <p:sp>
        <p:nvSpPr>
          <p:cNvPr id="6" name="Rounded Rectangle 5"/>
          <p:cNvSpPr/>
          <p:nvPr/>
        </p:nvSpPr>
        <p:spPr>
          <a:xfrm>
            <a:off x="8046720" y="1645920"/>
            <a:ext cx="3383280" cy="4389120"/>
          </a:xfrm>
          <a:prstGeom prst="roundRect">
            <a:avLst/>
          </a:prstGeom>
          <a:solidFill>
            <a:srgbClr val="1A2438"/>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38BDF8"/>
                </a:solidFill>
              </a:defRPr>
            </a:pPr>
            <a:r>
              <a:t>🔗 Live Artifacts &amp; Call to Action</a:t>
            </a:r>
          </a:p>
          <a:p>
            <a:br/>
            <a:pPr>
              <a:defRPr sz="1100" b="1">
                <a:solidFill>
                  <a:srgbClr val="F8FAFC"/>
                </a:solidFill>
              </a:defRPr>
            </a:pPr>
            <a:r>
              <a:t>🌐 Live Streamlit Command Center:</a:t>
            </a:r>
          </a:p>
          <a:p>
            <a:pPr>
              <a:defRPr sz="950">
                <a:solidFill>
                  <a:srgbClr val="38BDF8"/>
                </a:solidFill>
              </a:defRPr>
            </a:pPr>
            <a:r>
              <a:t>cycloneshield-vawrqbhtbgu8i6cafhbf3q.streamlit.app</a:t>
            </a:r>
          </a:p>
          <a:p>
            <a:br/>
            <a:pPr>
              <a:defRPr sz="1100" b="1">
                <a:solidFill>
                  <a:srgbClr val="F8FAFC"/>
                </a:solidFill>
              </a:defRPr>
            </a:pPr>
            <a:r>
              <a:t>📂 Open Source Repository:</a:t>
            </a:r>
          </a:p>
          <a:p>
            <a:pPr>
              <a:defRPr sz="950">
                <a:solidFill>
                  <a:srgbClr val="38BDF8"/>
                </a:solidFill>
              </a:defRPr>
            </a:pPr>
            <a:r>
              <a:t>github.com/itsme-sherlock/CycloneShield</a:t>
            </a:r>
          </a:p>
          <a:p>
            <a:br/>
            <a:pPr>
              <a:defRPr sz="1100" b="1">
                <a:solidFill>
                  <a:srgbClr val="F8FAFC"/>
                </a:solidFill>
              </a:defRPr>
            </a:pPr>
            <a:r>
              <a:t>📓 1-Click Reproducible Colab:</a:t>
            </a:r>
          </a:p>
          <a:p>
            <a:pPr>
              <a:defRPr sz="950">
                <a:solidFill>
                  <a:srgbClr val="38BDF8"/>
                </a:solidFill>
              </a:defRPr>
            </a:pPr>
            <a:r>
              <a:t>CycloneShield_Colab.ipynb</a:t>
            </a:r>
          </a:p>
          <a:p>
            <a:br/>
            <a:pPr>
              <a:defRPr sz="1050" b="1">
                <a:solidFill>
                  <a:srgbClr val="10B981"/>
                </a:solidFill>
              </a:defRPr>
            </a:pPr>
            <a:r>
              <a:t>🤝 The Ask: Partner with us to pilot CycloneShield with state disaster management authorities.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